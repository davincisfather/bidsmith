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3" d="100"/>
          <a:sy n="73" d="100"/>
        </p:scale>
        <p:origin x="55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75327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40731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{Bolagsnamn}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15762982" y="914400"/>
            <a:ext cx="1458218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{Anbudsdatum}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1143000" y="3574554"/>
            <a:ext cx="164820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23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ANBUD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1143000" y="4117479"/>
            <a:ext cx="1648206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8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TILL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143000" y="4488954"/>
            <a:ext cx="16482060" cy="7375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5400" b="1" kern="0" spc="-108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{Kundnamn}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143000" y="5569446"/>
            <a:ext cx="117729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000" kern="0" spc="-30" dirty="0">
                <a:solidFill>
                  <a:srgbClr val="2B2B2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{Upphandlingens namn}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1143000" y="8410575"/>
            <a:ext cx="16002000" cy="9525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9" name="Text 7"/>
          <p:cNvSpPr/>
          <p:nvPr/>
        </p:nvSpPr>
        <p:spPr>
          <a:xfrm>
            <a:off x="1143000" y="8801100"/>
            <a:ext cx="510021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08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DIARIENUMMER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143000" y="9096375"/>
            <a:ext cx="510021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856661" y="8801100"/>
            <a:ext cx="497083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08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ANBUDSDATUM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856661" y="9096375"/>
            <a:ext cx="497083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{Anbudsdatum}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2444710" y="8801100"/>
            <a:ext cx="484129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08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ANBUDSGIVARE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2444710" y="9096375"/>
            <a:ext cx="484129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</a:t>
            </a:r>
            <a:endParaRPr lang="en-US" sz="1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02 · INNEHÅLL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3811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Innehållsförteckning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143000" y="3190875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" name="Text 3"/>
          <p:cNvSpPr/>
          <p:nvPr/>
        </p:nvSpPr>
        <p:spPr>
          <a:xfrm>
            <a:off x="1143000" y="2733675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752600" y="2724150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Försättssida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525000" y="3190875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8" name="Text 6"/>
          <p:cNvSpPr/>
          <p:nvPr/>
        </p:nvSpPr>
        <p:spPr>
          <a:xfrm>
            <a:off x="9525000" y="2733675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0134600" y="2724150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Fas 4 — detalj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143000" y="4010025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1" name="Text 9"/>
          <p:cNvSpPr/>
          <p:nvPr/>
        </p:nvSpPr>
        <p:spPr>
          <a:xfrm>
            <a:off x="1143000" y="3552825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752600" y="3543300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Innehåll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525000" y="4010025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4" name="Text 12"/>
          <p:cNvSpPr/>
          <p:nvPr/>
        </p:nvSpPr>
        <p:spPr>
          <a:xfrm>
            <a:off x="9525000" y="3552825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0134600" y="3543300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Kvalitetssäkring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143000" y="4829175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7" name="Text 15"/>
          <p:cNvSpPr/>
          <p:nvPr/>
        </p:nvSpPr>
        <p:spPr>
          <a:xfrm>
            <a:off x="1143000" y="4371975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752600" y="4362450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Vår förståelse — Kunden idag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9525000" y="4829175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0" name="Text 18"/>
          <p:cNvSpPr/>
          <p:nvPr/>
        </p:nvSpPr>
        <p:spPr>
          <a:xfrm>
            <a:off x="9525000" y="4371975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0134600" y="4362450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Team, omfattning och pris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1143000" y="5648325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3" name="Text 21"/>
          <p:cNvSpPr/>
          <p:nvPr/>
        </p:nvSpPr>
        <p:spPr>
          <a:xfrm>
            <a:off x="1143000" y="5191125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752600" y="5181600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Vår förståelse — Uppdraget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525000" y="5648325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9525000" y="5191125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0134600" y="5181600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Uppfyllelse av ska-krav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1143000" y="6467475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9" name="Text 27"/>
          <p:cNvSpPr/>
          <p:nvPr/>
        </p:nvSpPr>
        <p:spPr>
          <a:xfrm>
            <a:off x="1143000" y="6010275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752600" y="6000750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Vår förståelse — Utmaningar och värde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525000" y="6467475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2" name="Text 30"/>
          <p:cNvSpPr/>
          <p:nvPr/>
        </p:nvSpPr>
        <p:spPr>
          <a:xfrm>
            <a:off x="9525000" y="6010275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10134600" y="6000750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Referensuppdrag 1</a:t>
            </a:r>
            <a:endParaRPr lang="en-US" sz="1950" dirty="0"/>
          </a:p>
        </p:txBody>
      </p:sp>
      <p:sp>
        <p:nvSpPr>
          <p:cNvPr id="34" name="Shape 32"/>
          <p:cNvSpPr/>
          <p:nvPr/>
        </p:nvSpPr>
        <p:spPr>
          <a:xfrm>
            <a:off x="1143000" y="7286625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5" name="Text 33"/>
          <p:cNvSpPr/>
          <p:nvPr/>
        </p:nvSpPr>
        <p:spPr>
          <a:xfrm>
            <a:off x="1143000" y="6829425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752600" y="6819900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Genomförande — översikt</a:t>
            </a:r>
            <a:endParaRPr lang="en-US" sz="1950" dirty="0"/>
          </a:p>
        </p:txBody>
      </p:sp>
      <p:sp>
        <p:nvSpPr>
          <p:cNvPr id="37" name="Shape 35"/>
          <p:cNvSpPr/>
          <p:nvPr/>
        </p:nvSpPr>
        <p:spPr>
          <a:xfrm>
            <a:off x="9525000" y="7286625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8" name="Text 36"/>
          <p:cNvSpPr/>
          <p:nvPr/>
        </p:nvSpPr>
        <p:spPr>
          <a:xfrm>
            <a:off x="9525000" y="6829425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10134600" y="6819900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Referensuppdrag 2</a:t>
            </a:r>
            <a:endParaRPr lang="en-US" sz="1950" dirty="0"/>
          </a:p>
        </p:txBody>
      </p:sp>
      <p:sp>
        <p:nvSpPr>
          <p:cNvPr id="40" name="Shape 38"/>
          <p:cNvSpPr/>
          <p:nvPr/>
        </p:nvSpPr>
        <p:spPr>
          <a:xfrm>
            <a:off x="1143000" y="8105775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1" name="Text 39"/>
          <p:cNvSpPr/>
          <p:nvPr/>
        </p:nvSpPr>
        <p:spPr>
          <a:xfrm>
            <a:off x="1143000" y="7648575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1752600" y="7639050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Fas 1 — detalj</a:t>
            </a:r>
            <a:endParaRPr lang="en-US" sz="1950" dirty="0"/>
          </a:p>
        </p:txBody>
      </p:sp>
      <p:sp>
        <p:nvSpPr>
          <p:cNvPr id="43" name="Shape 41"/>
          <p:cNvSpPr/>
          <p:nvPr/>
        </p:nvSpPr>
        <p:spPr>
          <a:xfrm>
            <a:off x="9525000" y="8105775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4" name="Text 42"/>
          <p:cNvSpPr/>
          <p:nvPr/>
        </p:nvSpPr>
        <p:spPr>
          <a:xfrm>
            <a:off x="9525000" y="7648575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0134600" y="7639050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Anbudssekretess</a:t>
            </a:r>
            <a:endParaRPr lang="en-US" sz="1950" dirty="0"/>
          </a:p>
        </p:txBody>
      </p:sp>
      <p:sp>
        <p:nvSpPr>
          <p:cNvPr id="46" name="Shape 44"/>
          <p:cNvSpPr/>
          <p:nvPr/>
        </p:nvSpPr>
        <p:spPr>
          <a:xfrm>
            <a:off x="1143000" y="8924925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7" name="Text 45"/>
          <p:cNvSpPr/>
          <p:nvPr/>
        </p:nvSpPr>
        <p:spPr>
          <a:xfrm>
            <a:off x="1143000" y="8467725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650" dirty="0"/>
          </a:p>
        </p:txBody>
      </p:sp>
      <p:sp>
        <p:nvSpPr>
          <p:cNvPr id="48" name="Text 46"/>
          <p:cNvSpPr/>
          <p:nvPr/>
        </p:nvSpPr>
        <p:spPr>
          <a:xfrm>
            <a:off x="1752600" y="8458200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Fas 2 — detalj</a:t>
            </a:r>
            <a:endParaRPr lang="en-US" sz="1950" dirty="0"/>
          </a:p>
        </p:txBody>
      </p:sp>
      <p:sp>
        <p:nvSpPr>
          <p:cNvPr id="49" name="Shape 47"/>
          <p:cNvSpPr/>
          <p:nvPr/>
        </p:nvSpPr>
        <p:spPr>
          <a:xfrm>
            <a:off x="9525000" y="8924925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0" name="Text 48"/>
          <p:cNvSpPr/>
          <p:nvPr/>
        </p:nvSpPr>
        <p:spPr>
          <a:xfrm>
            <a:off x="9525000" y="8467725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0134600" y="8458200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Certifieringar</a:t>
            </a:r>
            <a:endParaRPr lang="en-US" sz="1950" dirty="0"/>
          </a:p>
        </p:txBody>
      </p:sp>
      <p:sp>
        <p:nvSpPr>
          <p:cNvPr id="52" name="Shape 50"/>
          <p:cNvSpPr/>
          <p:nvPr/>
        </p:nvSpPr>
        <p:spPr>
          <a:xfrm>
            <a:off x="1143000" y="9744075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3" name="Text 51"/>
          <p:cNvSpPr/>
          <p:nvPr/>
        </p:nvSpPr>
        <p:spPr>
          <a:xfrm>
            <a:off x="1143000" y="9286875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650" dirty="0"/>
          </a:p>
        </p:txBody>
      </p:sp>
      <p:sp>
        <p:nvSpPr>
          <p:cNvPr id="54" name="Text 52"/>
          <p:cNvSpPr/>
          <p:nvPr/>
        </p:nvSpPr>
        <p:spPr>
          <a:xfrm>
            <a:off x="1752600" y="9277350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Fas 3 — detalj</a:t>
            </a:r>
            <a:endParaRPr lang="en-US" sz="1950" dirty="0"/>
          </a:p>
        </p:txBody>
      </p:sp>
      <p:sp>
        <p:nvSpPr>
          <p:cNvPr id="55" name="Shape 53"/>
          <p:cNvSpPr/>
          <p:nvPr/>
        </p:nvSpPr>
        <p:spPr>
          <a:xfrm>
            <a:off x="9525000" y="9744075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6" name="Shape 54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7" name="Text 55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58" name="Text 56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17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03 · VÅR FÖRSTÅELSE AV UPPDRAGET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3811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Kunden idag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143000" y="2867025"/>
            <a:ext cx="76581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" name="Text 3"/>
          <p:cNvSpPr/>
          <p:nvPr/>
        </p:nvSpPr>
        <p:spPr>
          <a:xfrm>
            <a:off x="1143000" y="2514600"/>
            <a:ext cx="7887843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ORGANISATION OCH SYSTEM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1143000" y="3878461"/>
            <a:ext cx="76581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1143000" y="3086100"/>
            <a:ext cx="198120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Organisation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238500" y="3086100"/>
            <a:ext cx="5729478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{Kundens nuläge — organisation: förvaltningar, antal anställda, geografi}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143000" y="4870847"/>
            <a:ext cx="76581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0" name="Text 8"/>
          <p:cNvSpPr/>
          <p:nvPr/>
        </p:nvSpPr>
        <p:spPr>
          <a:xfrm>
            <a:off x="1143000" y="4078486"/>
            <a:ext cx="198120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System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238500" y="4078486"/>
            <a:ext cx="5729478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{Kundens nuläge — system: nuvarande verksamhetssystem, integrationer, leverantörer}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143000" y="5863233"/>
            <a:ext cx="76581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3" name="Text 11"/>
          <p:cNvSpPr/>
          <p:nvPr/>
        </p:nvSpPr>
        <p:spPr>
          <a:xfrm>
            <a:off x="1143000" y="5070872"/>
            <a:ext cx="198120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Processer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238500" y="5070872"/>
            <a:ext cx="5729478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{Kundens nuläge — processer: arbetssätt, styrning, beslutsvägar}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486900" y="2867025"/>
            <a:ext cx="76581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6" name="Text 14"/>
          <p:cNvSpPr/>
          <p:nvPr/>
        </p:nvSpPr>
        <p:spPr>
          <a:xfrm>
            <a:off x="9486900" y="2514600"/>
            <a:ext cx="7887843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SMÄRTPUNKTER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9486900" y="3086100"/>
            <a:ext cx="19050" cy="693241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8" name="Text 16"/>
          <p:cNvSpPr/>
          <p:nvPr/>
        </p:nvSpPr>
        <p:spPr>
          <a:xfrm>
            <a:off x="9734550" y="3086100"/>
            <a:ext cx="7640193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{Smärtpunkt 1 — vad som inte fungerar idag och hur det påverkar verksamheten}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9486900" y="3988891"/>
            <a:ext cx="19050" cy="346621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0" name="Text 18"/>
          <p:cNvSpPr/>
          <p:nvPr/>
        </p:nvSpPr>
        <p:spPr>
          <a:xfrm>
            <a:off x="9734550" y="3988891"/>
            <a:ext cx="7640193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{Smärtpunkt 2}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9486900" y="4545062"/>
            <a:ext cx="19050" cy="346621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2" name="Text 20"/>
          <p:cNvSpPr/>
          <p:nvPr/>
        </p:nvSpPr>
        <p:spPr>
          <a:xfrm>
            <a:off x="9734550" y="4545062"/>
            <a:ext cx="7640193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{Smärtpunkt 3}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486900" y="5101233"/>
            <a:ext cx="19050" cy="346621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4" name="Text 22"/>
          <p:cNvSpPr/>
          <p:nvPr/>
        </p:nvSpPr>
        <p:spPr>
          <a:xfrm>
            <a:off x="9734550" y="5101233"/>
            <a:ext cx="7640193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{Smärtpunkt 4}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17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04 · VÅR FÖRSTÅELSE AV UPPDRAGET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3811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Uppdragsbeskrivning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143000" y="2095500"/>
            <a:ext cx="1648206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kern="0" spc="-3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Uppdraget parafraserat — så läser vi RFP:n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" y="3067050"/>
            <a:ext cx="1471612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{Uppdraget parafraserat med våra ord — stycke 1. Visa att vi har läst kravspecifikationen noggrant genom att beskriva syftet, målet och huvudsakliga leveranser med egna ord.}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143000" y="4057650"/>
            <a:ext cx="1471612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{Uppdraget parafraserat med våra ord — stycke 2. Beskriv omfattning, avgränsningar och förväntat utfall så att upphandlaren ser att vi har förstått uppdraget korrekt.}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143000" y="5048250"/>
            <a:ext cx="1471612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{Uppdraget parafraserat med våra ord — stycke 3. Tydliggör vilka intressenter som berörs och hur uppdraget knyter an till kundens övergripande mål.}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9" name="Text 7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17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05 · VÅR FÖRSTÅELSE AV UPPDRAGET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3811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Vad vi ser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143000" y="2867025"/>
            <a:ext cx="76581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" name="Text 3"/>
          <p:cNvSpPr/>
          <p:nvPr/>
        </p:nvSpPr>
        <p:spPr>
          <a:xfrm>
            <a:off x="1143000" y="2514600"/>
            <a:ext cx="7887843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IDENTIFIERADE UTMANINGAR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1143000" y="3086100"/>
            <a:ext cx="19050" cy="693241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1390650" y="3086100"/>
            <a:ext cx="7640193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{Utmaning 1 — en konkret utmaning vi ser i uppdraget och varför den är viktig att hantera}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1143000" y="3988891"/>
            <a:ext cx="19050" cy="346621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9" name="Text 7"/>
          <p:cNvSpPr/>
          <p:nvPr/>
        </p:nvSpPr>
        <p:spPr>
          <a:xfrm>
            <a:off x="1390650" y="3988891"/>
            <a:ext cx="7640193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{Utmaning 2}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143000" y="4545062"/>
            <a:ext cx="19050" cy="346621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1" name="Text 9"/>
          <p:cNvSpPr/>
          <p:nvPr/>
        </p:nvSpPr>
        <p:spPr>
          <a:xfrm>
            <a:off x="1390650" y="4545062"/>
            <a:ext cx="7640193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{Utmaning 3}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143000" y="5101233"/>
            <a:ext cx="19050" cy="346621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3" name="Text 11"/>
          <p:cNvSpPr/>
          <p:nvPr/>
        </p:nvSpPr>
        <p:spPr>
          <a:xfrm>
            <a:off x="1390650" y="5101233"/>
            <a:ext cx="7640193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{Utmaning 4}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486900" y="2867025"/>
            <a:ext cx="76581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5" name="Text 13"/>
          <p:cNvSpPr/>
          <p:nvPr/>
        </p:nvSpPr>
        <p:spPr>
          <a:xfrm>
            <a:off x="9486900" y="2514600"/>
            <a:ext cx="7887843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VÄRDE UTÖVER SKA-KRAVEN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486900" y="3086100"/>
            <a:ext cx="19050" cy="693241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7" name="Text 15"/>
          <p:cNvSpPr/>
          <p:nvPr/>
        </p:nvSpPr>
        <p:spPr>
          <a:xfrm>
            <a:off x="9734550" y="3086100"/>
            <a:ext cx="7640193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{Värde 1 — mervärde vi kan synliggöra som går utöver ska-kraven, konkret och mätbart}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9486900" y="3988891"/>
            <a:ext cx="19050" cy="346621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9" name="Text 17"/>
          <p:cNvSpPr/>
          <p:nvPr/>
        </p:nvSpPr>
        <p:spPr>
          <a:xfrm>
            <a:off x="9734550" y="3988891"/>
            <a:ext cx="7640193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{Värde 2}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486900" y="4545062"/>
            <a:ext cx="19050" cy="346621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1" name="Text 19"/>
          <p:cNvSpPr/>
          <p:nvPr/>
        </p:nvSpPr>
        <p:spPr>
          <a:xfrm>
            <a:off x="9734550" y="4545062"/>
            <a:ext cx="7640193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{Värde 3}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9486900" y="5101233"/>
            <a:ext cx="19050" cy="346621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3" name="Text 21"/>
          <p:cNvSpPr/>
          <p:nvPr/>
        </p:nvSpPr>
        <p:spPr>
          <a:xfrm>
            <a:off x="9734550" y="5101233"/>
            <a:ext cx="7640193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{Värde 4}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5" name="Text 23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17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7620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06 · GENOMFÖRANDE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2287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Genomförande — översikt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143000" y="2133600"/>
            <a:ext cx="37719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" name="Text 3"/>
          <p:cNvSpPr/>
          <p:nvPr/>
        </p:nvSpPr>
        <p:spPr>
          <a:xfrm>
            <a:off x="1143000" y="2333625"/>
            <a:ext cx="388505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0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 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43000" y="2581275"/>
            <a:ext cx="388505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1 — namn}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924175"/>
            <a:ext cx="3885057" cy="5351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1 — kort beskrivning. Detaljer på nästa slide.}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219700" y="2133600"/>
            <a:ext cx="37719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9" name="Text 7"/>
          <p:cNvSpPr/>
          <p:nvPr/>
        </p:nvSpPr>
        <p:spPr>
          <a:xfrm>
            <a:off x="5219700" y="2333625"/>
            <a:ext cx="388505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0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 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219700" y="2581275"/>
            <a:ext cx="388505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2 — namn}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219700" y="2924175"/>
            <a:ext cx="3885057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2 — beskrivning}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296400" y="2133600"/>
            <a:ext cx="37719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3" name="Text 11"/>
          <p:cNvSpPr/>
          <p:nvPr/>
        </p:nvSpPr>
        <p:spPr>
          <a:xfrm>
            <a:off x="9296400" y="2333625"/>
            <a:ext cx="388505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0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 3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296400" y="2581275"/>
            <a:ext cx="388505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3 — namn}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296400" y="2924175"/>
            <a:ext cx="3885057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3 — beskrivning}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3373100" y="2133600"/>
            <a:ext cx="37719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7" name="Text 15"/>
          <p:cNvSpPr/>
          <p:nvPr/>
        </p:nvSpPr>
        <p:spPr>
          <a:xfrm>
            <a:off x="13373100" y="2333625"/>
            <a:ext cx="388505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0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 4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3373100" y="2581275"/>
            <a:ext cx="388505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4 — namn}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373100" y="2924175"/>
            <a:ext cx="3885057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4 — beskrivning}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1143000" y="8345091"/>
            <a:ext cx="16002000" cy="9525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1" name="Shape 19"/>
          <p:cNvSpPr/>
          <p:nvPr/>
        </p:nvSpPr>
        <p:spPr>
          <a:xfrm>
            <a:off x="1143000" y="3916561"/>
            <a:ext cx="160020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2" name="Shape 20"/>
          <p:cNvSpPr/>
          <p:nvPr/>
        </p:nvSpPr>
        <p:spPr>
          <a:xfrm>
            <a:off x="1143000" y="4411861"/>
            <a:ext cx="2667000" cy="9525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3" name="Text 21"/>
          <p:cNvSpPr/>
          <p:nvPr/>
        </p:nvSpPr>
        <p:spPr>
          <a:xfrm>
            <a:off x="1295400" y="4059436"/>
            <a:ext cx="244221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3810000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5" name="Text 23"/>
          <p:cNvSpPr/>
          <p:nvPr/>
        </p:nvSpPr>
        <p:spPr>
          <a:xfrm>
            <a:off x="3781425" y="4059436"/>
            <a:ext cx="117782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921151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7" name="Text 25"/>
          <p:cNvSpPr/>
          <p:nvPr/>
        </p:nvSpPr>
        <p:spPr>
          <a:xfrm>
            <a:off x="4892576" y="4059436"/>
            <a:ext cx="11779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M2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32450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9" name="Text 27"/>
          <p:cNvSpPr/>
          <p:nvPr/>
        </p:nvSpPr>
        <p:spPr>
          <a:xfrm>
            <a:off x="6003875" y="4059436"/>
            <a:ext cx="117782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M3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143601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1" name="Text 29"/>
          <p:cNvSpPr/>
          <p:nvPr/>
        </p:nvSpPr>
        <p:spPr>
          <a:xfrm>
            <a:off x="7115026" y="4059436"/>
            <a:ext cx="11779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M4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254901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3" name="Text 31"/>
          <p:cNvSpPr/>
          <p:nvPr/>
        </p:nvSpPr>
        <p:spPr>
          <a:xfrm>
            <a:off x="8226326" y="4059436"/>
            <a:ext cx="11779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M5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9366200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5" name="Text 33"/>
          <p:cNvSpPr/>
          <p:nvPr/>
        </p:nvSpPr>
        <p:spPr>
          <a:xfrm>
            <a:off x="9337625" y="4059436"/>
            <a:ext cx="117782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M6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0477351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7" name="Text 35"/>
          <p:cNvSpPr/>
          <p:nvPr/>
        </p:nvSpPr>
        <p:spPr>
          <a:xfrm>
            <a:off x="10448776" y="4059436"/>
            <a:ext cx="11779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M7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1588651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9" name="Text 37"/>
          <p:cNvSpPr/>
          <p:nvPr/>
        </p:nvSpPr>
        <p:spPr>
          <a:xfrm>
            <a:off x="11560076" y="4059436"/>
            <a:ext cx="11779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M8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2699950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1" name="Text 39"/>
          <p:cNvSpPr/>
          <p:nvPr/>
        </p:nvSpPr>
        <p:spPr>
          <a:xfrm>
            <a:off x="12671375" y="4059436"/>
            <a:ext cx="117782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M9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3811101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3" name="Text 41"/>
          <p:cNvSpPr/>
          <p:nvPr/>
        </p:nvSpPr>
        <p:spPr>
          <a:xfrm>
            <a:off x="13782526" y="4059436"/>
            <a:ext cx="11779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M10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14922401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5" name="Text 43"/>
          <p:cNvSpPr/>
          <p:nvPr/>
        </p:nvSpPr>
        <p:spPr>
          <a:xfrm>
            <a:off x="14893826" y="4059436"/>
            <a:ext cx="11779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M11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16033700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7" name="Text 45"/>
          <p:cNvSpPr/>
          <p:nvPr/>
        </p:nvSpPr>
        <p:spPr>
          <a:xfrm>
            <a:off x="16005125" y="4059436"/>
            <a:ext cx="117782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M12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1143000" y="5392787"/>
            <a:ext cx="2667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9" name="Text 47"/>
          <p:cNvSpPr/>
          <p:nvPr/>
        </p:nvSpPr>
        <p:spPr>
          <a:xfrm>
            <a:off x="1295400" y="4630936"/>
            <a:ext cx="2438400" cy="3208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1 — namn}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1295400" y="4951809"/>
            <a:ext cx="2438400" cy="2695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{M1–M2}</a:t>
            </a:r>
            <a:endParaRPr lang="en-US" sz="1350" dirty="0"/>
          </a:p>
        </p:txBody>
      </p:sp>
      <p:sp>
        <p:nvSpPr>
          <p:cNvPr id="51" name="Shape 49"/>
          <p:cNvSpPr/>
          <p:nvPr/>
        </p:nvSpPr>
        <p:spPr>
          <a:xfrm>
            <a:off x="3810000" y="5392787"/>
            <a:ext cx="13335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2" name="Shape 50"/>
          <p:cNvSpPr/>
          <p:nvPr/>
        </p:nvSpPr>
        <p:spPr>
          <a:xfrm>
            <a:off x="3810000" y="4783187"/>
            <a:ext cx="2222450" cy="247650"/>
          </a:xfrm>
          <a:prstGeom prst="roundRect">
            <a:avLst>
              <a:gd name="adj" fmla="val 7692"/>
            </a:avLst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3" name="Text 51"/>
          <p:cNvSpPr/>
          <p:nvPr/>
        </p:nvSpPr>
        <p:spPr>
          <a:xfrm>
            <a:off x="3924300" y="4783187"/>
            <a:ext cx="207005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975" kern="0" spc="39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{Fas 1}</a:t>
            </a:r>
            <a:endParaRPr lang="en-US" sz="975" dirty="0"/>
          </a:p>
        </p:txBody>
      </p:sp>
      <p:sp>
        <p:nvSpPr>
          <p:cNvPr id="54" name="Shape 52"/>
          <p:cNvSpPr/>
          <p:nvPr/>
        </p:nvSpPr>
        <p:spPr>
          <a:xfrm>
            <a:off x="1143000" y="6373713"/>
            <a:ext cx="2667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5" name="Text 53"/>
          <p:cNvSpPr/>
          <p:nvPr/>
        </p:nvSpPr>
        <p:spPr>
          <a:xfrm>
            <a:off x="1295400" y="5611862"/>
            <a:ext cx="2438400" cy="3208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2 — namn}</a:t>
            </a:r>
            <a:endParaRPr lang="en-US" sz="1650" dirty="0"/>
          </a:p>
        </p:txBody>
      </p:sp>
      <p:sp>
        <p:nvSpPr>
          <p:cNvPr id="56" name="Text 54"/>
          <p:cNvSpPr/>
          <p:nvPr/>
        </p:nvSpPr>
        <p:spPr>
          <a:xfrm>
            <a:off x="1295400" y="5932736"/>
            <a:ext cx="2438400" cy="2695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{M2–M5}</a:t>
            </a:r>
            <a:endParaRPr lang="en-US" sz="1350" dirty="0"/>
          </a:p>
        </p:txBody>
      </p:sp>
      <p:sp>
        <p:nvSpPr>
          <p:cNvPr id="57" name="Shape 55"/>
          <p:cNvSpPr/>
          <p:nvPr/>
        </p:nvSpPr>
        <p:spPr>
          <a:xfrm>
            <a:off x="3810000" y="6373713"/>
            <a:ext cx="13335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8" name="Shape 56"/>
          <p:cNvSpPr/>
          <p:nvPr/>
        </p:nvSpPr>
        <p:spPr>
          <a:xfrm>
            <a:off x="4921151" y="5764113"/>
            <a:ext cx="4445050" cy="247650"/>
          </a:xfrm>
          <a:prstGeom prst="roundRect">
            <a:avLst>
              <a:gd name="adj" fmla="val 7692"/>
            </a:avLst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9" name="Text 57"/>
          <p:cNvSpPr/>
          <p:nvPr/>
        </p:nvSpPr>
        <p:spPr>
          <a:xfrm>
            <a:off x="5035451" y="5764113"/>
            <a:ext cx="434980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975" kern="0" spc="39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{Fas 2}</a:t>
            </a:r>
            <a:endParaRPr lang="en-US" sz="975" dirty="0"/>
          </a:p>
        </p:txBody>
      </p:sp>
      <p:sp>
        <p:nvSpPr>
          <p:cNvPr id="60" name="Shape 58"/>
          <p:cNvSpPr/>
          <p:nvPr/>
        </p:nvSpPr>
        <p:spPr>
          <a:xfrm>
            <a:off x="1143000" y="7354639"/>
            <a:ext cx="2667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1" name="Text 59"/>
          <p:cNvSpPr/>
          <p:nvPr/>
        </p:nvSpPr>
        <p:spPr>
          <a:xfrm>
            <a:off x="1295400" y="6592788"/>
            <a:ext cx="2438400" cy="3208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3 — namn}</a:t>
            </a:r>
            <a:endParaRPr lang="en-US" sz="1650" dirty="0"/>
          </a:p>
        </p:txBody>
      </p:sp>
      <p:sp>
        <p:nvSpPr>
          <p:cNvPr id="62" name="Text 60"/>
          <p:cNvSpPr/>
          <p:nvPr/>
        </p:nvSpPr>
        <p:spPr>
          <a:xfrm>
            <a:off x="1295400" y="6913662"/>
            <a:ext cx="2438400" cy="2695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{M5–M9}</a:t>
            </a:r>
            <a:endParaRPr lang="en-US" sz="1350" dirty="0"/>
          </a:p>
        </p:txBody>
      </p:sp>
      <p:sp>
        <p:nvSpPr>
          <p:cNvPr id="63" name="Shape 61"/>
          <p:cNvSpPr/>
          <p:nvPr/>
        </p:nvSpPr>
        <p:spPr>
          <a:xfrm>
            <a:off x="3810000" y="7354639"/>
            <a:ext cx="13335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4" name="Shape 62"/>
          <p:cNvSpPr/>
          <p:nvPr/>
        </p:nvSpPr>
        <p:spPr>
          <a:xfrm>
            <a:off x="8254901" y="6745039"/>
            <a:ext cx="5556349" cy="247650"/>
          </a:xfrm>
          <a:prstGeom prst="roundRect">
            <a:avLst>
              <a:gd name="adj" fmla="val 7692"/>
            </a:avLst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5" name="Text 63"/>
          <p:cNvSpPr/>
          <p:nvPr/>
        </p:nvSpPr>
        <p:spPr>
          <a:xfrm>
            <a:off x="8369201" y="6745039"/>
            <a:ext cx="549444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975" kern="0" spc="39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{Fas 3}</a:t>
            </a:r>
            <a:endParaRPr lang="en-US" sz="975" dirty="0"/>
          </a:p>
        </p:txBody>
      </p:sp>
      <p:sp>
        <p:nvSpPr>
          <p:cNvPr id="66" name="Shape 64"/>
          <p:cNvSpPr/>
          <p:nvPr/>
        </p:nvSpPr>
        <p:spPr>
          <a:xfrm>
            <a:off x="1143000" y="8335566"/>
            <a:ext cx="2667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7" name="Text 65"/>
          <p:cNvSpPr/>
          <p:nvPr/>
        </p:nvSpPr>
        <p:spPr>
          <a:xfrm>
            <a:off x="1295400" y="7573714"/>
            <a:ext cx="2438400" cy="3208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4 — namn}</a:t>
            </a:r>
            <a:endParaRPr lang="en-US" sz="1650" dirty="0"/>
          </a:p>
        </p:txBody>
      </p:sp>
      <p:sp>
        <p:nvSpPr>
          <p:cNvPr id="68" name="Text 66"/>
          <p:cNvSpPr/>
          <p:nvPr/>
        </p:nvSpPr>
        <p:spPr>
          <a:xfrm>
            <a:off x="1295400" y="7894588"/>
            <a:ext cx="2438400" cy="2695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{M9–M12}</a:t>
            </a:r>
            <a:endParaRPr lang="en-US" sz="1350" dirty="0"/>
          </a:p>
        </p:txBody>
      </p:sp>
      <p:sp>
        <p:nvSpPr>
          <p:cNvPr id="69" name="Shape 67"/>
          <p:cNvSpPr/>
          <p:nvPr/>
        </p:nvSpPr>
        <p:spPr>
          <a:xfrm>
            <a:off x="3810000" y="8335566"/>
            <a:ext cx="13335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70" name="Shape 68"/>
          <p:cNvSpPr/>
          <p:nvPr/>
        </p:nvSpPr>
        <p:spPr>
          <a:xfrm>
            <a:off x="12699950" y="7725966"/>
            <a:ext cx="4444901" cy="247650"/>
          </a:xfrm>
          <a:prstGeom prst="roundRect">
            <a:avLst>
              <a:gd name="adj" fmla="val 7692"/>
            </a:avLst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71" name="Text 69"/>
          <p:cNvSpPr/>
          <p:nvPr/>
        </p:nvSpPr>
        <p:spPr>
          <a:xfrm>
            <a:off x="12814250" y="7725966"/>
            <a:ext cx="434964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975" kern="0" spc="39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{Fas 4}</a:t>
            </a:r>
            <a:endParaRPr lang="en-US" sz="975" dirty="0"/>
          </a:p>
        </p:txBody>
      </p:sp>
      <p:sp>
        <p:nvSpPr>
          <p:cNvPr id="72" name="Shape 70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73" name="Text 71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74" name="Text 72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17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07 · GENOMFÖRANDE — FAS 1 AV 4</a:t>
            </a:r>
            <a:endParaRPr lang="en-US" sz="1350" dirty="0"/>
          </a:p>
        </p:txBody>
      </p:sp>
      <p:sp>
        <p:nvSpPr>
          <p:cNvPr id="3" name="Shape 1"/>
          <p:cNvSpPr/>
          <p:nvPr/>
        </p:nvSpPr>
        <p:spPr>
          <a:xfrm>
            <a:off x="1143000" y="2990850"/>
            <a:ext cx="160020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" name="Text 2"/>
          <p:cNvSpPr/>
          <p:nvPr/>
        </p:nvSpPr>
        <p:spPr>
          <a:xfrm>
            <a:off x="1143000" y="1266825"/>
            <a:ext cx="2171700" cy="1495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13500" kern="0" spc="-540" dirty="0">
                <a:solidFill>
                  <a:srgbClr val="2B5F5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01</a:t>
            </a:r>
            <a:endParaRPr lang="en-US" sz="13500" dirty="0"/>
          </a:p>
        </p:txBody>
      </p:sp>
      <p:sp>
        <p:nvSpPr>
          <p:cNvPr id="5" name="Text 3"/>
          <p:cNvSpPr/>
          <p:nvPr/>
        </p:nvSpPr>
        <p:spPr>
          <a:xfrm>
            <a:off x="3695700" y="1440210"/>
            <a:ext cx="1385277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 1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695700" y="1792635"/>
            <a:ext cx="13852779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200" b="1" kern="0" spc="-84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1 — namn}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695700" y="2447925"/>
            <a:ext cx="1385277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33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{M1–M2} · {Antal veckor}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43000" y="3457575"/>
            <a:ext cx="50292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9" name="Text 7"/>
          <p:cNvSpPr/>
          <p:nvPr/>
        </p:nvSpPr>
        <p:spPr>
          <a:xfrm>
            <a:off x="1143000" y="3600450"/>
            <a:ext cx="51800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AKTIVITETER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333500" y="420052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1 — vad som görs, av vem, hur}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333500" y="466531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2}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333500" y="513010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3}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333500" y="5594896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4}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629400" y="3457575"/>
            <a:ext cx="50292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5" name="Text 13"/>
          <p:cNvSpPr/>
          <p:nvPr/>
        </p:nvSpPr>
        <p:spPr>
          <a:xfrm>
            <a:off x="6629400" y="3600450"/>
            <a:ext cx="51800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LEVERANSER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819900" y="420052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{Leverans 1 — konkret artefakt, format, mottagare}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819900" y="466531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{Leverans 2}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6819900" y="513010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{Leverans 3}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2115800" y="3324225"/>
            <a:ext cx="5029200" cy="5334000"/>
          </a:xfrm>
          <a:prstGeom prst="rect">
            <a:avLst/>
          </a:prstGeom>
          <a:solidFill>
            <a:srgbClr val="E8DCC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0" name="Shape 18"/>
          <p:cNvSpPr/>
          <p:nvPr/>
        </p:nvSpPr>
        <p:spPr>
          <a:xfrm>
            <a:off x="12344400" y="3457575"/>
            <a:ext cx="45720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1" name="Text 19"/>
          <p:cNvSpPr/>
          <p:nvPr/>
        </p:nvSpPr>
        <p:spPr>
          <a:xfrm>
            <a:off x="12344400" y="3600450"/>
            <a:ext cx="470916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BESLUT I STYRGRUPP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2534900" y="4200525"/>
            <a:ext cx="4518660" cy="624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{Beslut 1 — vad styrgruppen ska ta ställning till vid faslut}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2534900" y="4958655"/>
            <a:ext cx="451866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{Beslut 2}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2534900" y="5423446"/>
            <a:ext cx="451866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{Go/no-go till nästa fas}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143000" y="9001125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1143000" y="9277350"/>
            <a:ext cx="217170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0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TIDSLINJE · FAS 1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467100" y="9201150"/>
            <a:ext cx="13677900" cy="13335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8" name="Shape 26"/>
          <p:cNvSpPr/>
          <p:nvPr/>
        </p:nvSpPr>
        <p:spPr>
          <a:xfrm>
            <a:off x="3467100" y="9201150"/>
            <a:ext cx="2279600" cy="133350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9" name="Shape 27"/>
          <p:cNvSpPr/>
          <p:nvPr/>
        </p:nvSpPr>
        <p:spPr>
          <a:xfrm>
            <a:off x="346710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0" name="Text 28"/>
          <p:cNvSpPr/>
          <p:nvPr/>
        </p:nvSpPr>
        <p:spPr>
          <a:xfrm>
            <a:off x="350520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</a:t>
            </a:r>
            <a:endParaRPr lang="en-US" sz="825" dirty="0"/>
          </a:p>
        </p:txBody>
      </p:sp>
      <p:sp>
        <p:nvSpPr>
          <p:cNvPr id="31" name="Shape 29"/>
          <p:cNvSpPr/>
          <p:nvPr/>
        </p:nvSpPr>
        <p:spPr>
          <a:xfrm>
            <a:off x="460682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2" name="Text 30"/>
          <p:cNvSpPr/>
          <p:nvPr/>
        </p:nvSpPr>
        <p:spPr>
          <a:xfrm>
            <a:off x="464492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M2</a:t>
            </a:r>
            <a:endParaRPr lang="en-US" sz="825" dirty="0"/>
          </a:p>
        </p:txBody>
      </p:sp>
      <p:sp>
        <p:nvSpPr>
          <p:cNvPr id="33" name="Shape 31"/>
          <p:cNvSpPr/>
          <p:nvPr/>
        </p:nvSpPr>
        <p:spPr>
          <a:xfrm>
            <a:off x="574670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4" name="Text 32"/>
          <p:cNvSpPr/>
          <p:nvPr/>
        </p:nvSpPr>
        <p:spPr>
          <a:xfrm>
            <a:off x="578480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M3</a:t>
            </a:r>
            <a:endParaRPr lang="en-US" sz="825" dirty="0"/>
          </a:p>
        </p:txBody>
      </p:sp>
      <p:sp>
        <p:nvSpPr>
          <p:cNvPr id="35" name="Shape 33"/>
          <p:cNvSpPr/>
          <p:nvPr/>
        </p:nvSpPr>
        <p:spPr>
          <a:xfrm>
            <a:off x="688642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6" name="Text 34"/>
          <p:cNvSpPr/>
          <p:nvPr/>
        </p:nvSpPr>
        <p:spPr>
          <a:xfrm>
            <a:off x="692452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M4</a:t>
            </a:r>
            <a:endParaRPr lang="en-US" sz="825" dirty="0"/>
          </a:p>
        </p:txBody>
      </p:sp>
      <p:sp>
        <p:nvSpPr>
          <p:cNvPr id="37" name="Shape 35"/>
          <p:cNvSpPr/>
          <p:nvPr/>
        </p:nvSpPr>
        <p:spPr>
          <a:xfrm>
            <a:off x="802630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8" name="Text 36"/>
          <p:cNvSpPr/>
          <p:nvPr/>
        </p:nvSpPr>
        <p:spPr>
          <a:xfrm>
            <a:off x="806440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M5</a:t>
            </a:r>
            <a:endParaRPr lang="en-US" sz="825" dirty="0"/>
          </a:p>
        </p:txBody>
      </p:sp>
      <p:sp>
        <p:nvSpPr>
          <p:cNvPr id="39" name="Shape 37"/>
          <p:cNvSpPr/>
          <p:nvPr/>
        </p:nvSpPr>
        <p:spPr>
          <a:xfrm>
            <a:off x="9166175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0" name="Text 38"/>
          <p:cNvSpPr/>
          <p:nvPr/>
        </p:nvSpPr>
        <p:spPr>
          <a:xfrm>
            <a:off x="9204275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M6</a:t>
            </a:r>
            <a:endParaRPr lang="en-US" sz="825" dirty="0"/>
          </a:p>
        </p:txBody>
      </p:sp>
      <p:sp>
        <p:nvSpPr>
          <p:cNvPr id="41" name="Shape 39"/>
          <p:cNvSpPr/>
          <p:nvPr/>
        </p:nvSpPr>
        <p:spPr>
          <a:xfrm>
            <a:off x="1030590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2" name="Text 40"/>
          <p:cNvSpPr/>
          <p:nvPr/>
        </p:nvSpPr>
        <p:spPr>
          <a:xfrm>
            <a:off x="1034400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M7</a:t>
            </a:r>
            <a:endParaRPr lang="en-US" sz="825" dirty="0"/>
          </a:p>
        </p:txBody>
      </p:sp>
      <p:sp>
        <p:nvSpPr>
          <p:cNvPr id="43" name="Shape 41"/>
          <p:cNvSpPr/>
          <p:nvPr/>
        </p:nvSpPr>
        <p:spPr>
          <a:xfrm>
            <a:off x="1144577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4" name="Text 42"/>
          <p:cNvSpPr/>
          <p:nvPr/>
        </p:nvSpPr>
        <p:spPr>
          <a:xfrm>
            <a:off x="1148387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M8</a:t>
            </a:r>
            <a:endParaRPr lang="en-US" sz="825" dirty="0"/>
          </a:p>
        </p:txBody>
      </p:sp>
      <p:sp>
        <p:nvSpPr>
          <p:cNvPr id="45" name="Shape 43"/>
          <p:cNvSpPr/>
          <p:nvPr/>
        </p:nvSpPr>
        <p:spPr>
          <a:xfrm>
            <a:off x="1258565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6" name="Text 44"/>
          <p:cNvSpPr/>
          <p:nvPr/>
        </p:nvSpPr>
        <p:spPr>
          <a:xfrm>
            <a:off x="1262375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M9</a:t>
            </a:r>
            <a:endParaRPr lang="en-US" sz="825" dirty="0"/>
          </a:p>
        </p:txBody>
      </p:sp>
      <p:sp>
        <p:nvSpPr>
          <p:cNvPr id="47" name="Shape 45"/>
          <p:cNvSpPr/>
          <p:nvPr/>
        </p:nvSpPr>
        <p:spPr>
          <a:xfrm>
            <a:off x="1372537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8" name="Text 46"/>
          <p:cNvSpPr/>
          <p:nvPr/>
        </p:nvSpPr>
        <p:spPr>
          <a:xfrm>
            <a:off x="1376347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M10</a:t>
            </a:r>
            <a:endParaRPr lang="en-US" sz="825" dirty="0"/>
          </a:p>
        </p:txBody>
      </p:sp>
      <p:sp>
        <p:nvSpPr>
          <p:cNvPr id="49" name="Shape 47"/>
          <p:cNvSpPr/>
          <p:nvPr/>
        </p:nvSpPr>
        <p:spPr>
          <a:xfrm>
            <a:off x="1486525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0" name="Text 48"/>
          <p:cNvSpPr/>
          <p:nvPr/>
        </p:nvSpPr>
        <p:spPr>
          <a:xfrm>
            <a:off x="1490335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M11</a:t>
            </a:r>
            <a:endParaRPr lang="en-US" sz="825" dirty="0"/>
          </a:p>
        </p:txBody>
      </p:sp>
      <p:sp>
        <p:nvSpPr>
          <p:cNvPr id="51" name="Shape 49"/>
          <p:cNvSpPr/>
          <p:nvPr/>
        </p:nvSpPr>
        <p:spPr>
          <a:xfrm>
            <a:off x="16005125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2" name="Text 50"/>
          <p:cNvSpPr/>
          <p:nvPr/>
        </p:nvSpPr>
        <p:spPr>
          <a:xfrm>
            <a:off x="16043225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M12</a:t>
            </a:r>
            <a:endParaRPr lang="en-US" sz="825" dirty="0"/>
          </a:p>
        </p:txBody>
      </p:sp>
      <p:sp>
        <p:nvSpPr>
          <p:cNvPr id="53" name="Shape 51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4" name="Text 52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55" name="Text 53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17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08 · GENOMFÖRANDE — FAS 2 AV 4</a:t>
            </a:r>
            <a:endParaRPr lang="en-US" sz="1350" dirty="0"/>
          </a:p>
        </p:txBody>
      </p:sp>
      <p:sp>
        <p:nvSpPr>
          <p:cNvPr id="3" name="Shape 1"/>
          <p:cNvSpPr/>
          <p:nvPr/>
        </p:nvSpPr>
        <p:spPr>
          <a:xfrm>
            <a:off x="1143000" y="2990850"/>
            <a:ext cx="160020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" name="Text 2"/>
          <p:cNvSpPr/>
          <p:nvPr/>
        </p:nvSpPr>
        <p:spPr>
          <a:xfrm>
            <a:off x="1143000" y="1266825"/>
            <a:ext cx="2171700" cy="1495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13500" kern="0" spc="-540" dirty="0">
                <a:solidFill>
                  <a:srgbClr val="2B5F5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02</a:t>
            </a:r>
            <a:endParaRPr lang="en-US" sz="13500" dirty="0"/>
          </a:p>
        </p:txBody>
      </p:sp>
      <p:sp>
        <p:nvSpPr>
          <p:cNvPr id="5" name="Text 3"/>
          <p:cNvSpPr/>
          <p:nvPr/>
        </p:nvSpPr>
        <p:spPr>
          <a:xfrm>
            <a:off x="3695700" y="1440210"/>
            <a:ext cx="1385277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 2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695700" y="1792635"/>
            <a:ext cx="13852779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200" b="1" kern="0" spc="-84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2 — namn}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695700" y="2447925"/>
            <a:ext cx="1385277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33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{M2–M5} · {Antal veckor}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43000" y="3457575"/>
            <a:ext cx="50292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9" name="Text 7"/>
          <p:cNvSpPr/>
          <p:nvPr/>
        </p:nvSpPr>
        <p:spPr>
          <a:xfrm>
            <a:off x="1143000" y="3600450"/>
            <a:ext cx="51800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AKTIVITETER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333500" y="420052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1}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333500" y="466531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2}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333500" y="513010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3}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333500" y="5594896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4}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629400" y="3457575"/>
            <a:ext cx="50292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5" name="Text 13"/>
          <p:cNvSpPr/>
          <p:nvPr/>
        </p:nvSpPr>
        <p:spPr>
          <a:xfrm>
            <a:off x="6629400" y="3600450"/>
            <a:ext cx="51800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LEVERANSER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819900" y="420052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{Leverans 1}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819900" y="466531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{Leverans 2}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6819900" y="513010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{Leverans 3}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2115800" y="3324225"/>
            <a:ext cx="5029200" cy="5334000"/>
          </a:xfrm>
          <a:prstGeom prst="rect">
            <a:avLst/>
          </a:prstGeom>
          <a:solidFill>
            <a:srgbClr val="E8DCC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0" name="Shape 18"/>
          <p:cNvSpPr/>
          <p:nvPr/>
        </p:nvSpPr>
        <p:spPr>
          <a:xfrm>
            <a:off x="12344400" y="3457575"/>
            <a:ext cx="45720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1" name="Text 19"/>
          <p:cNvSpPr/>
          <p:nvPr/>
        </p:nvSpPr>
        <p:spPr>
          <a:xfrm>
            <a:off x="12344400" y="3600450"/>
            <a:ext cx="470916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BESLUT I STYRGRUPP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2534900" y="4200525"/>
            <a:ext cx="451866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{Beslut 1}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2534900" y="4665315"/>
            <a:ext cx="451866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{Beslut 2}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2534900" y="5130105"/>
            <a:ext cx="451866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{Go/no-go till nästa fas}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143000" y="9001125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1143000" y="9277350"/>
            <a:ext cx="217170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0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TIDSLINJE · FAS 2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467100" y="9201150"/>
            <a:ext cx="13677900" cy="13335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8" name="Shape 26"/>
          <p:cNvSpPr/>
          <p:nvPr/>
        </p:nvSpPr>
        <p:spPr>
          <a:xfrm>
            <a:off x="4606826" y="9201150"/>
            <a:ext cx="4559201" cy="133350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9" name="Shape 27"/>
          <p:cNvSpPr/>
          <p:nvPr/>
        </p:nvSpPr>
        <p:spPr>
          <a:xfrm>
            <a:off x="346710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0" name="Text 28"/>
          <p:cNvSpPr/>
          <p:nvPr/>
        </p:nvSpPr>
        <p:spPr>
          <a:xfrm>
            <a:off x="350520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</a:t>
            </a:r>
            <a:endParaRPr lang="en-US" sz="825" dirty="0"/>
          </a:p>
        </p:txBody>
      </p:sp>
      <p:sp>
        <p:nvSpPr>
          <p:cNvPr id="31" name="Shape 29"/>
          <p:cNvSpPr/>
          <p:nvPr/>
        </p:nvSpPr>
        <p:spPr>
          <a:xfrm>
            <a:off x="460682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2" name="Text 30"/>
          <p:cNvSpPr/>
          <p:nvPr/>
        </p:nvSpPr>
        <p:spPr>
          <a:xfrm>
            <a:off x="464492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M2</a:t>
            </a:r>
            <a:endParaRPr lang="en-US" sz="825" dirty="0"/>
          </a:p>
        </p:txBody>
      </p:sp>
      <p:sp>
        <p:nvSpPr>
          <p:cNvPr id="33" name="Shape 31"/>
          <p:cNvSpPr/>
          <p:nvPr/>
        </p:nvSpPr>
        <p:spPr>
          <a:xfrm>
            <a:off x="574670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4" name="Text 32"/>
          <p:cNvSpPr/>
          <p:nvPr/>
        </p:nvSpPr>
        <p:spPr>
          <a:xfrm>
            <a:off x="578480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M3</a:t>
            </a:r>
            <a:endParaRPr lang="en-US" sz="825" dirty="0"/>
          </a:p>
        </p:txBody>
      </p:sp>
      <p:sp>
        <p:nvSpPr>
          <p:cNvPr id="35" name="Shape 33"/>
          <p:cNvSpPr/>
          <p:nvPr/>
        </p:nvSpPr>
        <p:spPr>
          <a:xfrm>
            <a:off x="688642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6" name="Text 34"/>
          <p:cNvSpPr/>
          <p:nvPr/>
        </p:nvSpPr>
        <p:spPr>
          <a:xfrm>
            <a:off x="692452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M4</a:t>
            </a:r>
            <a:endParaRPr lang="en-US" sz="825" dirty="0"/>
          </a:p>
        </p:txBody>
      </p:sp>
      <p:sp>
        <p:nvSpPr>
          <p:cNvPr id="37" name="Shape 35"/>
          <p:cNvSpPr/>
          <p:nvPr/>
        </p:nvSpPr>
        <p:spPr>
          <a:xfrm>
            <a:off x="802630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8" name="Text 36"/>
          <p:cNvSpPr/>
          <p:nvPr/>
        </p:nvSpPr>
        <p:spPr>
          <a:xfrm>
            <a:off x="806440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M5</a:t>
            </a:r>
            <a:endParaRPr lang="en-US" sz="825" dirty="0"/>
          </a:p>
        </p:txBody>
      </p:sp>
      <p:sp>
        <p:nvSpPr>
          <p:cNvPr id="39" name="Shape 37"/>
          <p:cNvSpPr/>
          <p:nvPr/>
        </p:nvSpPr>
        <p:spPr>
          <a:xfrm>
            <a:off x="9166175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0" name="Text 38"/>
          <p:cNvSpPr/>
          <p:nvPr/>
        </p:nvSpPr>
        <p:spPr>
          <a:xfrm>
            <a:off x="9204275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M6</a:t>
            </a:r>
            <a:endParaRPr lang="en-US" sz="825" dirty="0"/>
          </a:p>
        </p:txBody>
      </p:sp>
      <p:sp>
        <p:nvSpPr>
          <p:cNvPr id="41" name="Shape 39"/>
          <p:cNvSpPr/>
          <p:nvPr/>
        </p:nvSpPr>
        <p:spPr>
          <a:xfrm>
            <a:off x="1030590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2" name="Text 40"/>
          <p:cNvSpPr/>
          <p:nvPr/>
        </p:nvSpPr>
        <p:spPr>
          <a:xfrm>
            <a:off x="1034400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M7</a:t>
            </a:r>
            <a:endParaRPr lang="en-US" sz="825" dirty="0"/>
          </a:p>
        </p:txBody>
      </p:sp>
      <p:sp>
        <p:nvSpPr>
          <p:cNvPr id="43" name="Shape 41"/>
          <p:cNvSpPr/>
          <p:nvPr/>
        </p:nvSpPr>
        <p:spPr>
          <a:xfrm>
            <a:off x="1144577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4" name="Text 42"/>
          <p:cNvSpPr/>
          <p:nvPr/>
        </p:nvSpPr>
        <p:spPr>
          <a:xfrm>
            <a:off x="1148387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M8</a:t>
            </a:r>
            <a:endParaRPr lang="en-US" sz="825" dirty="0"/>
          </a:p>
        </p:txBody>
      </p:sp>
      <p:sp>
        <p:nvSpPr>
          <p:cNvPr id="45" name="Shape 43"/>
          <p:cNvSpPr/>
          <p:nvPr/>
        </p:nvSpPr>
        <p:spPr>
          <a:xfrm>
            <a:off x="1258565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6" name="Text 44"/>
          <p:cNvSpPr/>
          <p:nvPr/>
        </p:nvSpPr>
        <p:spPr>
          <a:xfrm>
            <a:off x="1262375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M9</a:t>
            </a:r>
            <a:endParaRPr lang="en-US" sz="825" dirty="0"/>
          </a:p>
        </p:txBody>
      </p:sp>
      <p:sp>
        <p:nvSpPr>
          <p:cNvPr id="47" name="Shape 45"/>
          <p:cNvSpPr/>
          <p:nvPr/>
        </p:nvSpPr>
        <p:spPr>
          <a:xfrm>
            <a:off x="1372537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8" name="Text 46"/>
          <p:cNvSpPr/>
          <p:nvPr/>
        </p:nvSpPr>
        <p:spPr>
          <a:xfrm>
            <a:off x="1376347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M10</a:t>
            </a:r>
            <a:endParaRPr lang="en-US" sz="825" dirty="0"/>
          </a:p>
        </p:txBody>
      </p:sp>
      <p:sp>
        <p:nvSpPr>
          <p:cNvPr id="49" name="Shape 47"/>
          <p:cNvSpPr/>
          <p:nvPr/>
        </p:nvSpPr>
        <p:spPr>
          <a:xfrm>
            <a:off x="1486525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0" name="Text 48"/>
          <p:cNvSpPr/>
          <p:nvPr/>
        </p:nvSpPr>
        <p:spPr>
          <a:xfrm>
            <a:off x="1490335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M11</a:t>
            </a:r>
            <a:endParaRPr lang="en-US" sz="825" dirty="0"/>
          </a:p>
        </p:txBody>
      </p:sp>
      <p:sp>
        <p:nvSpPr>
          <p:cNvPr id="51" name="Shape 49"/>
          <p:cNvSpPr/>
          <p:nvPr/>
        </p:nvSpPr>
        <p:spPr>
          <a:xfrm>
            <a:off x="16005125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2" name="Text 50"/>
          <p:cNvSpPr/>
          <p:nvPr/>
        </p:nvSpPr>
        <p:spPr>
          <a:xfrm>
            <a:off x="16043225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M12</a:t>
            </a:r>
            <a:endParaRPr lang="en-US" sz="825" dirty="0"/>
          </a:p>
        </p:txBody>
      </p:sp>
      <p:sp>
        <p:nvSpPr>
          <p:cNvPr id="53" name="Shape 51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4" name="Text 52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55" name="Text 53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17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09 · GENOMFÖRANDE — FAS 3 AV 4</a:t>
            </a:r>
            <a:endParaRPr lang="en-US" sz="1350" dirty="0"/>
          </a:p>
        </p:txBody>
      </p:sp>
      <p:sp>
        <p:nvSpPr>
          <p:cNvPr id="3" name="Shape 1"/>
          <p:cNvSpPr/>
          <p:nvPr/>
        </p:nvSpPr>
        <p:spPr>
          <a:xfrm>
            <a:off x="1143000" y="2990850"/>
            <a:ext cx="160020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" name="Text 2"/>
          <p:cNvSpPr/>
          <p:nvPr/>
        </p:nvSpPr>
        <p:spPr>
          <a:xfrm>
            <a:off x="1143000" y="1266825"/>
            <a:ext cx="2171700" cy="1495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13500" kern="0" spc="-540" dirty="0">
                <a:solidFill>
                  <a:srgbClr val="2B5F5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03</a:t>
            </a:r>
            <a:endParaRPr lang="en-US" sz="13500" dirty="0"/>
          </a:p>
        </p:txBody>
      </p:sp>
      <p:sp>
        <p:nvSpPr>
          <p:cNvPr id="5" name="Text 3"/>
          <p:cNvSpPr/>
          <p:nvPr/>
        </p:nvSpPr>
        <p:spPr>
          <a:xfrm>
            <a:off x="3695700" y="1440210"/>
            <a:ext cx="1385277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 3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695700" y="1792635"/>
            <a:ext cx="13852779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200" b="1" kern="0" spc="-84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3 — namn}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695700" y="2447925"/>
            <a:ext cx="1385277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33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{M5–M9} · {Antal veckor}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43000" y="3457575"/>
            <a:ext cx="50292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9" name="Text 7"/>
          <p:cNvSpPr/>
          <p:nvPr/>
        </p:nvSpPr>
        <p:spPr>
          <a:xfrm>
            <a:off x="1143000" y="3600450"/>
            <a:ext cx="51800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AKTIVITETER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333500" y="420052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1}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333500" y="466531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2}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333500" y="513010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3}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333500" y="5594896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4}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629400" y="3457575"/>
            <a:ext cx="50292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5" name="Text 13"/>
          <p:cNvSpPr/>
          <p:nvPr/>
        </p:nvSpPr>
        <p:spPr>
          <a:xfrm>
            <a:off x="6629400" y="3600450"/>
            <a:ext cx="51800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LEVERANSER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819900" y="420052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{Leverans 1}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819900" y="466531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{Leverans 2}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6819900" y="513010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{Leverans 3}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2115800" y="3324225"/>
            <a:ext cx="5029200" cy="5334000"/>
          </a:xfrm>
          <a:prstGeom prst="rect">
            <a:avLst/>
          </a:prstGeom>
          <a:solidFill>
            <a:srgbClr val="E8DCC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0" name="Shape 18"/>
          <p:cNvSpPr/>
          <p:nvPr/>
        </p:nvSpPr>
        <p:spPr>
          <a:xfrm>
            <a:off x="12344400" y="3457575"/>
            <a:ext cx="45720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1" name="Text 19"/>
          <p:cNvSpPr/>
          <p:nvPr/>
        </p:nvSpPr>
        <p:spPr>
          <a:xfrm>
            <a:off x="12344400" y="3600450"/>
            <a:ext cx="470916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BESLUT I STYRGRUPP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2534900" y="4200525"/>
            <a:ext cx="451866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{Beslut 1}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2534900" y="4665315"/>
            <a:ext cx="451866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{Beslut 2}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2534900" y="5130105"/>
            <a:ext cx="451866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{Go/no-go till nästa fas}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143000" y="9001125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1143000" y="9277350"/>
            <a:ext cx="217170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0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TIDSLINJE · FAS 3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467100" y="9201150"/>
            <a:ext cx="13677900" cy="13335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8" name="Shape 26"/>
          <p:cNvSpPr/>
          <p:nvPr/>
        </p:nvSpPr>
        <p:spPr>
          <a:xfrm>
            <a:off x="8026301" y="9201150"/>
            <a:ext cx="5699075" cy="133350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9" name="Shape 27"/>
          <p:cNvSpPr/>
          <p:nvPr/>
        </p:nvSpPr>
        <p:spPr>
          <a:xfrm>
            <a:off x="346710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0" name="Text 28"/>
          <p:cNvSpPr/>
          <p:nvPr/>
        </p:nvSpPr>
        <p:spPr>
          <a:xfrm>
            <a:off x="350520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</a:t>
            </a:r>
            <a:endParaRPr lang="en-US" sz="825" dirty="0"/>
          </a:p>
        </p:txBody>
      </p:sp>
      <p:sp>
        <p:nvSpPr>
          <p:cNvPr id="31" name="Shape 29"/>
          <p:cNvSpPr/>
          <p:nvPr/>
        </p:nvSpPr>
        <p:spPr>
          <a:xfrm>
            <a:off x="460682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2" name="Text 30"/>
          <p:cNvSpPr/>
          <p:nvPr/>
        </p:nvSpPr>
        <p:spPr>
          <a:xfrm>
            <a:off x="464492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M2</a:t>
            </a:r>
            <a:endParaRPr lang="en-US" sz="825" dirty="0"/>
          </a:p>
        </p:txBody>
      </p:sp>
      <p:sp>
        <p:nvSpPr>
          <p:cNvPr id="33" name="Shape 31"/>
          <p:cNvSpPr/>
          <p:nvPr/>
        </p:nvSpPr>
        <p:spPr>
          <a:xfrm>
            <a:off x="574670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4" name="Text 32"/>
          <p:cNvSpPr/>
          <p:nvPr/>
        </p:nvSpPr>
        <p:spPr>
          <a:xfrm>
            <a:off x="578480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M3</a:t>
            </a:r>
            <a:endParaRPr lang="en-US" sz="825" dirty="0"/>
          </a:p>
        </p:txBody>
      </p:sp>
      <p:sp>
        <p:nvSpPr>
          <p:cNvPr id="35" name="Shape 33"/>
          <p:cNvSpPr/>
          <p:nvPr/>
        </p:nvSpPr>
        <p:spPr>
          <a:xfrm>
            <a:off x="688642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6" name="Text 34"/>
          <p:cNvSpPr/>
          <p:nvPr/>
        </p:nvSpPr>
        <p:spPr>
          <a:xfrm>
            <a:off x="692452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M4</a:t>
            </a:r>
            <a:endParaRPr lang="en-US" sz="825" dirty="0"/>
          </a:p>
        </p:txBody>
      </p:sp>
      <p:sp>
        <p:nvSpPr>
          <p:cNvPr id="37" name="Shape 35"/>
          <p:cNvSpPr/>
          <p:nvPr/>
        </p:nvSpPr>
        <p:spPr>
          <a:xfrm>
            <a:off x="802630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8" name="Text 36"/>
          <p:cNvSpPr/>
          <p:nvPr/>
        </p:nvSpPr>
        <p:spPr>
          <a:xfrm>
            <a:off x="806440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M5</a:t>
            </a:r>
            <a:endParaRPr lang="en-US" sz="825" dirty="0"/>
          </a:p>
        </p:txBody>
      </p:sp>
      <p:sp>
        <p:nvSpPr>
          <p:cNvPr id="39" name="Shape 37"/>
          <p:cNvSpPr/>
          <p:nvPr/>
        </p:nvSpPr>
        <p:spPr>
          <a:xfrm>
            <a:off x="9166175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0" name="Text 38"/>
          <p:cNvSpPr/>
          <p:nvPr/>
        </p:nvSpPr>
        <p:spPr>
          <a:xfrm>
            <a:off x="9204275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M6</a:t>
            </a:r>
            <a:endParaRPr lang="en-US" sz="825" dirty="0"/>
          </a:p>
        </p:txBody>
      </p:sp>
      <p:sp>
        <p:nvSpPr>
          <p:cNvPr id="41" name="Shape 39"/>
          <p:cNvSpPr/>
          <p:nvPr/>
        </p:nvSpPr>
        <p:spPr>
          <a:xfrm>
            <a:off x="1030590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2" name="Text 40"/>
          <p:cNvSpPr/>
          <p:nvPr/>
        </p:nvSpPr>
        <p:spPr>
          <a:xfrm>
            <a:off x="1034400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M7</a:t>
            </a:r>
            <a:endParaRPr lang="en-US" sz="825" dirty="0"/>
          </a:p>
        </p:txBody>
      </p:sp>
      <p:sp>
        <p:nvSpPr>
          <p:cNvPr id="43" name="Shape 41"/>
          <p:cNvSpPr/>
          <p:nvPr/>
        </p:nvSpPr>
        <p:spPr>
          <a:xfrm>
            <a:off x="1144577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4" name="Text 42"/>
          <p:cNvSpPr/>
          <p:nvPr/>
        </p:nvSpPr>
        <p:spPr>
          <a:xfrm>
            <a:off x="1148387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M8</a:t>
            </a:r>
            <a:endParaRPr lang="en-US" sz="825" dirty="0"/>
          </a:p>
        </p:txBody>
      </p:sp>
      <p:sp>
        <p:nvSpPr>
          <p:cNvPr id="45" name="Shape 43"/>
          <p:cNvSpPr/>
          <p:nvPr/>
        </p:nvSpPr>
        <p:spPr>
          <a:xfrm>
            <a:off x="1258565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6" name="Text 44"/>
          <p:cNvSpPr/>
          <p:nvPr/>
        </p:nvSpPr>
        <p:spPr>
          <a:xfrm>
            <a:off x="1262375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M9</a:t>
            </a:r>
            <a:endParaRPr lang="en-US" sz="825" dirty="0"/>
          </a:p>
        </p:txBody>
      </p:sp>
      <p:sp>
        <p:nvSpPr>
          <p:cNvPr id="47" name="Shape 45"/>
          <p:cNvSpPr/>
          <p:nvPr/>
        </p:nvSpPr>
        <p:spPr>
          <a:xfrm>
            <a:off x="1372537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8" name="Text 46"/>
          <p:cNvSpPr/>
          <p:nvPr/>
        </p:nvSpPr>
        <p:spPr>
          <a:xfrm>
            <a:off x="1376347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M10</a:t>
            </a:r>
            <a:endParaRPr lang="en-US" sz="825" dirty="0"/>
          </a:p>
        </p:txBody>
      </p:sp>
      <p:sp>
        <p:nvSpPr>
          <p:cNvPr id="49" name="Shape 47"/>
          <p:cNvSpPr/>
          <p:nvPr/>
        </p:nvSpPr>
        <p:spPr>
          <a:xfrm>
            <a:off x="1486525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0" name="Text 48"/>
          <p:cNvSpPr/>
          <p:nvPr/>
        </p:nvSpPr>
        <p:spPr>
          <a:xfrm>
            <a:off x="1490335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M11</a:t>
            </a:r>
            <a:endParaRPr lang="en-US" sz="825" dirty="0"/>
          </a:p>
        </p:txBody>
      </p:sp>
      <p:sp>
        <p:nvSpPr>
          <p:cNvPr id="51" name="Shape 49"/>
          <p:cNvSpPr/>
          <p:nvPr/>
        </p:nvSpPr>
        <p:spPr>
          <a:xfrm>
            <a:off x="16005125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2" name="Text 50"/>
          <p:cNvSpPr/>
          <p:nvPr/>
        </p:nvSpPr>
        <p:spPr>
          <a:xfrm>
            <a:off x="16043225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M12</a:t>
            </a:r>
            <a:endParaRPr lang="en-US" sz="825" dirty="0"/>
          </a:p>
        </p:txBody>
      </p:sp>
      <p:sp>
        <p:nvSpPr>
          <p:cNvPr id="53" name="Shape 51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4" name="Text 52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55" name="Text 53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17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10 · GENOMFÖRANDE — FAS 4 AV 4</a:t>
            </a:r>
            <a:endParaRPr lang="en-US" sz="1350" dirty="0"/>
          </a:p>
        </p:txBody>
      </p:sp>
      <p:sp>
        <p:nvSpPr>
          <p:cNvPr id="3" name="Shape 1"/>
          <p:cNvSpPr/>
          <p:nvPr/>
        </p:nvSpPr>
        <p:spPr>
          <a:xfrm>
            <a:off x="1143000" y="2990850"/>
            <a:ext cx="160020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" name="Text 2"/>
          <p:cNvSpPr/>
          <p:nvPr/>
        </p:nvSpPr>
        <p:spPr>
          <a:xfrm>
            <a:off x="1143000" y="1266825"/>
            <a:ext cx="2171700" cy="1495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13500" kern="0" spc="-540" dirty="0">
                <a:solidFill>
                  <a:srgbClr val="2B5F5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04</a:t>
            </a:r>
            <a:endParaRPr lang="en-US" sz="13500" dirty="0"/>
          </a:p>
        </p:txBody>
      </p:sp>
      <p:sp>
        <p:nvSpPr>
          <p:cNvPr id="5" name="Text 3"/>
          <p:cNvSpPr/>
          <p:nvPr/>
        </p:nvSpPr>
        <p:spPr>
          <a:xfrm>
            <a:off x="3695700" y="1440210"/>
            <a:ext cx="1385277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 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695700" y="1792635"/>
            <a:ext cx="13852779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200" b="1" kern="0" spc="-84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4 — namn}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695700" y="2447925"/>
            <a:ext cx="1385277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33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{M9–M12} · {Antal veckor}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43000" y="3457575"/>
            <a:ext cx="50292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9" name="Text 7"/>
          <p:cNvSpPr/>
          <p:nvPr/>
        </p:nvSpPr>
        <p:spPr>
          <a:xfrm>
            <a:off x="1143000" y="3600450"/>
            <a:ext cx="51800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AKTIVITETER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333500" y="420052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1}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333500" y="466531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2}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333500" y="513010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3}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333500" y="5594896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4}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629400" y="3457575"/>
            <a:ext cx="50292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5" name="Text 13"/>
          <p:cNvSpPr/>
          <p:nvPr/>
        </p:nvSpPr>
        <p:spPr>
          <a:xfrm>
            <a:off x="6629400" y="3600450"/>
            <a:ext cx="51800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LEVERANSER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819900" y="420052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{Leverans 1 — slutleverans}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819900" y="466531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{Leverans 2 — överlämning}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6819900" y="513010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{Leverans 3 — slutrapport}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2115800" y="3324225"/>
            <a:ext cx="5029200" cy="5334000"/>
          </a:xfrm>
          <a:prstGeom prst="rect">
            <a:avLst/>
          </a:prstGeom>
          <a:solidFill>
            <a:srgbClr val="E8DCC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0" name="Shape 18"/>
          <p:cNvSpPr/>
          <p:nvPr/>
        </p:nvSpPr>
        <p:spPr>
          <a:xfrm>
            <a:off x="12344400" y="3457575"/>
            <a:ext cx="45720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1" name="Text 19"/>
          <p:cNvSpPr/>
          <p:nvPr/>
        </p:nvSpPr>
        <p:spPr>
          <a:xfrm>
            <a:off x="12344400" y="3600450"/>
            <a:ext cx="470916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BESLUT I STYRGRUPP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2534900" y="4200525"/>
            <a:ext cx="451866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{Beslut 1 — godkännande av slutleverans}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2534900" y="4665315"/>
            <a:ext cx="451866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{Beslut 2 — förvaltningsöverlämning}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2534900" y="5130105"/>
            <a:ext cx="451866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{Avslut av uppdrag}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143000" y="9001125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1143000" y="9277350"/>
            <a:ext cx="217170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0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TIDSLINJE · FAS 4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467100" y="9201150"/>
            <a:ext cx="13677900" cy="13335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8" name="Shape 26"/>
          <p:cNvSpPr/>
          <p:nvPr/>
        </p:nvSpPr>
        <p:spPr>
          <a:xfrm>
            <a:off x="12585650" y="9201150"/>
            <a:ext cx="4559201" cy="133350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9" name="Shape 27"/>
          <p:cNvSpPr/>
          <p:nvPr/>
        </p:nvSpPr>
        <p:spPr>
          <a:xfrm>
            <a:off x="346710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0" name="Text 28"/>
          <p:cNvSpPr/>
          <p:nvPr/>
        </p:nvSpPr>
        <p:spPr>
          <a:xfrm>
            <a:off x="350520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</a:t>
            </a:r>
            <a:endParaRPr lang="en-US" sz="825" dirty="0"/>
          </a:p>
        </p:txBody>
      </p:sp>
      <p:sp>
        <p:nvSpPr>
          <p:cNvPr id="31" name="Shape 29"/>
          <p:cNvSpPr/>
          <p:nvPr/>
        </p:nvSpPr>
        <p:spPr>
          <a:xfrm>
            <a:off x="460682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2" name="Text 30"/>
          <p:cNvSpPr/>
          <p:nvPr/>
        </p:nvSpPr>
        <p:spPr>
          <a:xfrm>
            <a:off x="464492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M2</a:t>
            </a:r>
            <a:endParaRPr lang="en-US" sz="825" dirty="0"/>
          </a:p>
        </p:txBody>
      </p:sp>
      <p:sp>
        <p:nvSpPr>
          <p:cNvPr id="33" name="Shape 31"/>
          <p:cNvSpPr/>
          <p:nvPr/>
        </p:nvSpPr>
        <p:spPr>
          <a:xfrm>
            <a:off x="574670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4" name="Text 32"/>
          <p:cNvSpPr/>
          <p:nvPr/>
        </p:nvSpPr>
        <p:spPr>
          <a:xfrm>
            <a:off x="578480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M3</a:t>
            </a:r>
            <a:endParaRPr lang="en-US" sz="825" dirty="0"/>
          </a:p>
        </p:txBody>
      </p:sp>
      <p:sp>
        <p:nvSpPr>
          <p:cNvPr id="35" name="Shape 33"/>
          <p:cNvSpPr/>
          <p:nvPr/>
        </p:nvSpPr>
        <p:spPr>
          <a:xfrm>
            <a:off x="688642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6" name="Text 34"/>
          <p:cNvSpPr/>
          <p:nvPr/>
        </p:nvSpPr>
        <p:spPr>
          <a:xfrm>
            <a:off x="692452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M4</a:t>
            </a:r>
            <a:endParaRPr lang="en-US" sz="825" dirty="0"/>
          </a:p>
        </p:txBody>
      </p:sp>
      <p:sp>
        <p:nvSpPr>
          <p:cNvPr id="37" name="Shape 35"/>
          <p:cNvSpPr/>
          <p:nvPr/>
        </p:nvSpPr>
        <p:spPr>
          <a:xfrm>
            <a:off x="802630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8" name="Text 36"/>
          <p:cNvSpPr/>
          <p:nvPr/>
        </p:nvSpPr>
        <p:spPr>
          <a:xfrm>
            <a:off x="806440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M5</a:t>
            </a:r>
            <a:endParaRPr lang="en-US" sz="825" dirty="0"/>
          </a:p>
        </p:txBody>
      </p:sp>
      <p:sp>
        <p:nvSpPr>
          <p:cNvPr id="39" name="Shape 37"/>
          <p:cNvSpPr/>
          <p:nvPr/>
        </p:nvSpPr>
        <p:spPr>
          <a:xfrm>
            <a:off x="9166175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0" name="Text 38"/>
          <p:cNvSpPr/>
          <p:nvPr/>
        </p:nvSpPr>
        <p:spPr>
          <a:xfrm>
            <a:off x="9204275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M6</a:t>
            </a:r>
            <a:endParaRPr lang="en-US" sz="825" dirty="0"/>
          </a:p>
        </p:txBody>
      </p:sp>
      <p:sp>
        <p:nvSpPr>
          <p:cNvPr id="41" name="Shape 39"/>
          <p:cNvSpPr/>
          <p:nvPr/>
        </p:nvSpPr>
        <p:spPr>
          <a:xfrm>
            <a:off x="1030590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2" name="Text 40"/>
          <p:cNvSpPr/>
          <p:nvPr/>
        </p:nvSpPr>
        <p:spPr>
          <a:xfrm>
            <a:off x="1034400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M7</a:t>
            </a:r>
            <a:endParaRPr lang="en-US" sz="825" dirty="0"/>
          </a:p>
        </p:txBody>
      </p:sp>
      <p:sp>
        <p:nvSpPr>
          <p:cNvPr id="43" name="Shape 41"/>
          <p:cNvSpPr/>
          <p:nvPr/>
        </p:nvSpPr>
        <p:spPr>
          <a:xfrm>
            <a:off x="1144577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4" name="Text 42"/>
          <p:cNvSpPr/>
          <p:nvPr/>
        </p:nvSpPr>
        <p:spPr>
          <a:xfrm>
            <a:off x="1148387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M8</a:t>
            </a:r>
            <a:endParaRPr lang="en-US" sz="825" dirty="0"/>
          </a:p>
        </p:txBody>
      </p:sp>
      <p:sp>
        <p:nvSpPr>
          <p:cNvPr id="45" name="Shape 43"/>
          <p:cNvSpPr/>
          <p:nvPr/>
        </p:nvSpPr>
        <p:spPr>
          <a:xfrm>
            <a:off x="1258565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6" name="Text 44"/>
          <p:cNvSpPr/>
          <p:nvPr/>
        </p:nvSpPr>
        <p:spPr>
          <a:xfrm>
            <a:off x="1262375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M9</a:t>
            </a:r>
            <a:endParaRPr lang="en-US" sz="825" dirty="0"/>
          </a:p>
        </p:txBody>
      </p:sp>
      <p:sp>
        <p:nvSpPr>
          <p:cNvPr id="47" name="Shape 45"/>
          <p:cNvSpPr/>
          <p:nvPr/>
        </p:nvSpPr>
        <p:spPr>
          <a:xfrm>
            <a:off x="1372537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8" name="Text 46"/>
          <p:cNvSpPr/>
          <p:nvPr/>
        </p:nvSpPr>
        <p:spPr>
          <a:xfrm>
            <a:off x="1376347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M10</a:t>
            </a:r>
            <a:endParaRPr lang="en-US" sz="825" dirty="0"/>
          </a:p>
        </p:txBody>
      </p:sp>
      <p:sp>
        <p:nvSpPr>
          <p:cNvPr id="49" name="Shape 47"/>
          <p:cNvSpPr/>
          <p:nvPr/>
        </p:nvSpPr>
        <p:spPr>
          <a:xfrm>
            <a:off x="1486525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0" name="Text 48"/>
          <p:cNvSpPr/>
          <p:nvPr/>
        </p:nvSpPr>
        <p:spPr>
          <a:xfrm>
            <a:off x="1490335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M11</a:t>
            </a:r>
            <a:endParaRPr lang="en-US" sz="825" dirty="0"/>
          </a:p>
        </p:txBody>
      </p:sp>
      <p:sp>
        <p:nvSpPr>
          <p:cNvPr id="51" name="Shape 49"/>
          <p:cNvSpPr/>
          <p:nvPr/>
        </p:nvSpPr>
        <p:spPr>
          <a:xfrm>
            <a:off x="16005125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2" name="Text 50"/>
          <p:cNvSpPr/>
          <p:nvPr/>
        </p:nvSpPr>
        <p:spPr>
          <a:xfrm>
            <a:off x="16043225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M12</a:t>
            </a:r>
            <a:endParaRPr lang="en-US" sz="825" dirty="0"/>
          </a:p>
        </p:txBody>
      </p:sp>
      <p:sp>
        <p:nvSpPr>
          <p:cNvPr id="53" name="Shape 51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4" name="Text 52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55" name="Text 53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17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11 · KVALITETSSÄKRING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3811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Kvalitetssäkring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143000" y="2438400"/>
            <a:ext cx="50292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" name="Text 3"/>
          <p:cNvSpPr/>
          <p:nvPr/>
        </p:nvSpPr>
        <p:spPr>
          <a:xfrm>
            <a:off x="1143000" y="2619375"/>
            <a:ext cx="51800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QA-PROCESS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143000" y="3162300"/>
            <a:ext cx="5180076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{QA-process — övergripande beskrivning av vårt kvalitetsarbete: metodik, standarder och verktyg.}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4442520"/>
            <a:ext cx="5180076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{QA-process — granskningsrutiner, peer review och </a:t>
            </a:r>
            <a:r>
              <a:rPr lang="en-US" sz="1800" dirty="0" err="1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dokumentationskrav</a:t>
            </a:r>
            <a:r>
              <a:rPr lang="en-US" sz="18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.}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629400" y="2438400"/>
            <a:ext cx="50292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9" name="Text 7"/>
          <p:cNvSpPr/>
          <p:nvPr/>
        </p:nvSpPr>
        <p:spPr>
          <a:xfrm>
            <a:off x="6629400" y="2619375"/>
            <a:ext cx="51800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ANSVARIG KVALITETSLEDARE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629400" y="3162300"/>
            <a:ext cx="518007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{Namn, kvalitetsledare}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629400" y="3627090"/>
            <a:ext cx="518007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{Roll, erfarenhet och mandat}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629400" y="4091880"/>
            <a:ext cx="518007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{Kontakt — e-post och telefon}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2115800" y="2438400"/>
            <a:ext cx="50292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4" name="Text 12"/>
          <p:cNvSpPr/>
          <p:nvPr/>
        </p:nvSpPr>
        <p:spPr>
          <a:xfrm>
            <a:off x="12115800" y="2619375"/>
            <a:ext cx="51800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ESKALERING OCH RAPPORTERING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2115800" y="3162300"/>
            <a:ext cx="5180076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{Hur avvikelser hanteras och eskaleras till beställare}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115800" y="3958530"/>
            <a:ext cx="5180076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{Rapporteringsfrekvens och format — månads­rapport, avvikelse­rapport}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143000" y="7890570"/>
            <a:ext cx="16002000" cy="9525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8" name="Text 16"/>
          <p:cNvSpPr/>
          <p:nvPr/>
        </p:nvSpPr>
        <p:spPr>
          <a:xfrm>
            <a:off x="1143000" y="8204895"/>
            <a:ext cx="1648206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AVSTÄMNINGSPUNKTER MOT BESTÄLLARE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1143000" y="8614470"/>
            <a:ext cx="3829050" cy="910530"/>
          </a:xfrm>
          <a:prstGeom prst="rect">
            <a:avLst/>
          </a:prstGeom>
          <a:ln w="9525">
            <a:solidFill>
              <a:srgbClr val="CFC7B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0" name="Text 18"/>
          <p:cNvSpPr/>
          <p:nvPr/>
        </p:nvSpPr>
        <p:spPr>
          <a:xfrm>
            <a:off x="1323975" y="8814495"/>
            <a:ext cx="3571113" cy="2247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kern="0" spc="10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 1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323975" y="9086850"/>
            <a:ext cx="3423492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{Avstämning 1 — tidpunkt och innehåll}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200650" y="8614470"/>
            <a:ext cx="3829050" cy="910530"/>
          </a:xfrm>
          <a:prstGeom prst="rect">
            <a:avLst/>
          </a:prstGeom>
          <a:ln w="9525">
            <a:solidFill>
              <a:srgbClr val="CFC7B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3" name="Text 21"/>
          <p:cNvSpPr/>
          <p:nvPr/>
        </p:nvSpPr>
        <p:spPr>
          <a:xfrm>
            <a:off x="5381625" y="8814495"/>
            <a:ext cx="3571113" cy="2247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kern="0" spc="10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 2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381625" y="9086850"/>
            <a:ext cx="1354187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{Avstämning 2}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258300" y="8614470"/>
            <a:ext cx="3829050" cy="910530"/>
          </a:xfrm>
          <a:prstGeom prst="rect">
            <a:avLst/>
          </a:prstGeom>
          <a:ln w="9525">
            <a:solidFill>
              <a:srgbClr val="CFC7B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9439275" y="8814495"/>
            <a:ext cx="3571113" cy="2247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kern="0" spc="10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 3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439275" y="9086850"/>
            <a:ext cx="1354187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{Avstämning 3}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13315950" y="8614470"/>
            <a:ext cx="3829050" cy="910530"/>
          </a:xfrm>
          <a:prstGeom prst="rect">
            <a:avLst/>
          </a:prstGeom>
          <a:ln w="9525">
            <a:solidFill>
              <a:srgbClr val="CFC7B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9" name="Text 27"/>
          <p:cNvSpPr/>
          <p:nvPr/>
        </p:nvSpPr>
        <p:spPr>
          <a:xfrm>
            <a:off x="13496925" y="8814495"/>
            <a:ext cx="3571113" cy="2247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kern="0" spc="10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 4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3496925" y="9086850"/>
            <a:ext cx="1354187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{Avstämning 4}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2" name="Text 30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17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12 · TEAM, OMFATTNING OCH PRIS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3811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Team, omfattning och pris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143000" y="2405063"/>
            <a:ext cx="3238946" cy="59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" name="Shape 3"/>
          <p:cNvSpPr/>
          <p:nvPr/>
        </p:nvSpPr>
        <p:spPr>
          <a:xfrm>
            <a:off x="1143000" y="2987873"/>
            <a:ext cx="3238946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" name="Shape 4"/>
          <p:cNvSpPr/>
          <p:nvPr/>
        </p:nvSpPr>
        <p:spPr>
          <a:xfrm>
            <a:off x="1143000" y="2405063"/>
            <a:ext cx="3238946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1333500" y="2586038"/>
            <a:ext cx="2955115" cy="2684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KONSULT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81946" y="2405063"/>
            <a:ext cx="3191024" cy="59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9" name="Shape 7"/>
          <p:cNvSpPr/>
          <p:nvPr/>
        </p:nvSpPr>
        <p:spPr>
          <a:xfrm>
            <a:off x="4381946" y="2987873"/>
            <a:ext cx="3191024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0" name="Shape 8"/>
          <p:cNvSpPr/>
          <p:nvPr/>
        </p:nvSpPr>
        <p:spPr>
          <a:xfrm>
            <a:off x="4381946" y="2405063"/>
            <a:ext cx="3191024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1" name="Text 9"/>
          <p:cNvSpPr/>
          <p:nvPr/>
        </p:nvSpPr>
        <p:spPr>
          <a:xfrm>
            <a:off x="4572446" y="2586038"/>
            <a:ext cx="2905755" cy="2684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ROLL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72970" y="2405063"/>
            <a:ext cx="2392710" cy="59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3" name="Shape 11"/>
          <p:cNvSpPr/>
          <p:nvPr/>
        </p:nvSpPr>
        <p:spPr>
          <a:xfrm>
            <a:off x="7572970" y="2987873"/>
            <a:ext cx="239271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4" name="Shape 12"/>
          <p:cNvSpPr/>
          <p:nvPr/>
        </p:nvSpPr>
        <p:spPr>
          <a:xfrm>
            <a:off x="7572970" y="2405063"/>
            <a:ext cx="239271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5" name="Text 13"/>
          <p:cNvSpPr/>
          <p:nvPr/>
        </p:nvSpPr>
        <p:spPr>
          <a:xfrm>
            <a:off x="7763470" y="2586038"/>
            <a:ext cx="2087910" cy="2684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OMFATTNING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965680" y="2405063"/>
            <a:ext cx="2181076" cy="59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7" name="Shape 15"/>
          <p:cNvSpPr/>
          <p:nvPr/>
        </p:nvSpPr>
        <p:spPr>
          <a:xfrm>
            <a:off x="9965680" y="2987873"/>
            <a:ext cx="2181076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8" name="Shape 16"/>
          <p:cNvSpPr/>
          <p:nvPr/>
        </p:nvSpPr>
        <p:spPr>
          <a:xfrm>
            <a:off x="9965680" y="2405063"/>
            <a:ext cx="2181076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9" name="Text 17"/>
          <p:cNvSpPr/>
          <p:nvPr/>
        </p:nvSpPr>
        <p:spPr>
          <a:xfrm>
            <a:off x="10156180" y="2586038"/>
            <a:ext cx="1876276" cy="2684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TIMPRIS (SEK)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12146756" y="2405063"/>
            <a:ext cx="2227808" cy="59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1" name="Shape 19"/>
          <p:cNvSpPr/>
          <p:nvPr/>
        </p:nvSpPr>
        <p:spPr>
          <a:xfrm>
            <a:off x="12146756" y="2987873"/>
            <a:ext cx="2227808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2" name="Shape 20"/>
          <p:cNvSpPr/>
          <p:nvPr/>
        </p:nvSpPr>
        <p:spPr>
          <a:xfrm>
            <a:off x="12146756" y="2405063"/>
            <a:ext cx="2227808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3" name="Text 21"/>
          <p:cNvSpPr/>
          <p:nvPr/>
        </p:nvSpPr>
        <p:spPr>
          <a:xfrm>
            <a:off x="12337256" y="2586038"/>
            <a:ext cx="1923008" cy="2684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TIMMAR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14374564" y="2405063"/>
            <a:ext cx="2770436" cy="59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5" name="Shape 23"/>
          <p:cNvSpPr/>
          <p:nvPr/>
        </p:nvSpPr>
        <p:spPr>
          <a:xfrm>
            <a:off x="14374564" y="2987873"/>
            <a:ext cx="2770436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6" name="Shape 24"/>
          <p:cNvSpPr/>
          <p:nvPr/>
        </p:nvSpPr>
        <p:spPr>
          <a:xfrm>
            <a:off x="14374564" y="2405063"/>
            <a:ext cx="2770436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7" name="Text 25"/>
          <p:cNvSpPr/>
          <p:nvPr/>
        </p:nvSpPr>
        <p:spPr>
          <a:xfrm>
            <a:off x="14565064" y="2586038"/>
            <a:ext cx="2472549" cy="2684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TOTAL VOLYM (SEK)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1143000" y="3633639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9" name="Text 27"/>
          <p:cNvSpPr/>
          <p:nvPr/>
        </p:nvSpPr>
        <p:spPr>
          <a:xfrm>
            <a:off x="1333500" y="3168848"/>
            <a:ext cx="2955115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{Konsult 1 — namn}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4572446" y="3168848"/>
            <a:ext cx="2905755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{Roll 1}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7763470" y="3168848"/>
            <a:ext cx="2087910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{Omfattning 1 %}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0156180" y="3168848"/>
            <a:ext cx="1876276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{Timpris 1}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12337256" y="3168848"/>
            <a:ext cx="1923008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{Timmar 1}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14565064" y="3168848"/>
            <a:ext cx="2472549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{Total 1}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143000" y="4279404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6" name="Text 34"/>
          <p:cNvSpPr/>
          <p:nvPr/>
        </p:nvSpPr>
        <p:spPr>
          <a:xfrm>
            <a:off x="1333500" y="3814614"/>
            <a:ext cx="2955115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{Konsult 2 — namn}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4572446" y="3814614"/>
            <a:ext cx="2905755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{Roll 2}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7763470" y="3814614"/>
            <a:ext cx="2087910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{Omfattning 2 %}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10156180" y="3814614"/>
            <a:ext cx="1876276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{Timpris 2}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12337256" y="3814614"/>
            <a:ext cx="1923008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{Timmar 2}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14565064" y="3814614"/>
            <a:ext cx="2472549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{Total 2}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143000" y="4925169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3" name="Text 41"/>
          <p:cNvSpPr/>
          <p:nvPr/>
        </p:nvSpPr>
        <p:spPr>
          <a:xfrm>
            <a:off x="1333500" y="4460379"/>
            <a:ext cx="2955115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{Konsult 3 — namn}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4572446" y="4460379"/>
            <a:ext cx="2905755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{Roll 3}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7763470" y="4460379"/>
            <a:ext cx="2087910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{Omfattning 3 %}</a:t>
            </a:r>
            <a:endParaRPr lang="en-US" sz="1650" dirty="0"/>
          </a:p>
        </p:txBody>
      </p:sp>
      <p:sp>
        <p:nvSpPr>
          <p:cNvPr id="46" name="Text 44"/>
          <p:cNvSpPr/>
          <p:nvPr/>
        </p:nvSpPr>
        <p:spPr>
          <a:xfrm>
            <a:off x="10156180" y="4460379"/>
            <a:ext cx="1876276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{Timpris 3}</a:t>
            </a:r>
            <a:endParaRPr lang="en-US" sz="1650" dirty="0"/>
          </a:p>
        </p:txBody>
      </p:sp>
      <p:sp>
        <p:nvSpPr>
          <p:cNvPr id="47" name="Text 45"/>
          <p:cNvSpPr/>
          <p:nvPr/>
        </p:nvSpPr>
        <p:spPr>
          <a:xfrm>
            <a:off x="12337256" y="4460379"/>
            <a:ext cx="1923008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{Timmar 3}</a:t>
            </a:r>
            <a:endParaRPr lang="en-US" sz="1650" dirty="0"/>
          </a:p>
        </p:txBody>
      </p:sp>
      <p:sp>
        <p:nvSpPr>
          <p:cNvPr id="48" name="Text 46"/>
          <p:cNvSpPr/>
          <p:nvPr/>
        </p:nvSpPr>
        <p:spPr>
          <a:xfrm>
            <a:off x="14565064" y="4460379"/>
            <a:ext cx="2472549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{Total 3}</a:t>
            </a:r>
            <a:endParaRPr lang="en-US" sz="1650" dirty="0"/>
          </a:p>
        </p:txBody>
      </p:sp>
      <p:sp>
        <p:nvSpPr>
          <p:cNvPr id="49" name="Shape 47"/>
          <p:cNvSpPr/>
          <p:nvPr/>
        </p:nvSpPr>
        <p:spPr>
          <a:xfrm>
            <a:off x="1143000" y="5570934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0" name="Text 48"/>
          <p:cNvSpPr/>
          <p:nvPr/>
        </p:nvSpPr>
        <p:spPr>
          <a:xfrm>
            <a:off x="1333500" y="5106144"/>
            <a:ext cx="2955115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{Konsult 4 — namn}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4572446" y="5106144"/>
            <a:ext cx="2905755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{Roll 4}</a:t>
            </a:r>
            <a:endParaRPr lang="en-US" sz="1650" dirty="0"/>
          </a:p>
        </p:txBody>
      </p:sp>
      <p:sp>
        <p:nvSpPr>
          <p:cNvPr id="52" name="Text 50"/>
          <p:cNvSpPr/>
          <p:nvPr/>
        </p:nvSpPr>
        <p:spPr>
          <a:xfrm>
            <a:off x="7763470" y="5106144"/>
            <a:ext cx="2087910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{Omfattning 4 %}</a:t>
            </a:r>
            <a:endParaRPr lang="en-US" sz="1650" dirty="0"/>
          </a:p>
        </p:txBody>
      </p:sp>
      <p:sp>
        <p:nvSpPr>
          <p:cNvPr id="53" name="Text 51"/>
          <p:cNvSpPr/>
          <p:nvPr/>
        </p:nvSpPr>
        <p:spPr>
          <a:xfrm>
            <a:off x="10156180" y="5106144"/>
            <a:ext cx="1876276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{Timpris 4}</a:t>
            </a:r>
            <a:endParaRPr lang="en-US" sz="1650" dirty="0"/>
          </a:p>
        </p:txBody>
      </p:sp>
      <p:sp>
        <p:nvSpPr>
          <p:cNvPr id="54" name="Text 52"/>
          <p:cNvSpPr/>
          <p:nvPr/>
        </p:nvSpPr>
        <p:spPr>
          <a:xfrm>
            <a:off x="12337256" y="5106144"/>
            <a:ext cx="1923008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{Timmar 4}</a:t>
            </a:r>
            <a:endParaRPr lang="en-US" sz="1650" dirty="0"/>
          </a:p>
        </p:txBody>
      </p:sp>
      <p:sp>
        <p:nvSpPr>
          <p:cNvPr id="55" name="Text 53"/>
          <p:cNvSpPr/>
          <p:nvPr/>
        </p:nvSpPr>
        <p:spPr>
          <a:xfrm>
            <a:off x="14565064" y="5106144"/>
            <a:ext cx="2472549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{Total 4}</a:t>
            </a:r>
            <a:endParaRPr lang="en-US" sz="1650" dirty="0"/>
          </a:p>
        </p:txBody>
      </p:sp>
      <p:sp>
        <p:nvSpPr>
          <p:cNvPr id="56" name="Shape 54"/>
          <p:cNvSpPr/>
          <p:nvPr/>
        </p:nvSpPr>
        <p:spPr>
          <a:xfrm>
            <a:off x="1143000" y="62167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7" name="Text 55"/>
          <p:cNvSpPr/>
          <p:nvPr/>
        </p:nvSpPr>
        <p:spPr>
          <a:xfrm>
            <a:off x="1333500" y="5751909"/>
            <a:ext cx="2955115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{Konsult 5 — namn}</a:t>
            </a:r>
            <a:endParaRPr lang="en-US" sz="1650" dirty="0"/>
          </a:p>
        </p:txBody>
      </p:sp>
      <p:sp>
        <p:nvSpPr>
          <p:cNvPr id="58" name="Text 56"/>
          <p:cNvSpPr/>
          <p:nvPr/>
        </p:nvSpPr>
        <p:spPr>
          <a:xfrm>
            <a:off x="4572446" y="5751909"/>
            <a:ext cx="2905755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{Roll 5}</a:t>
            </a:r>
            <a:endParaRPr lang="en-US" sz="1650" dirty="0"/>
          </a:p>
        </p:txBody>
      </p:sp>
      <p:sp>
        <p:nvSpPr>
          <p:cNvPr id="59" name="Text 57"/>
          <p:cNvSpPr/>
          <p:nvPr/>
        </p:nvSpPr>
        <p:spPr>
          <a:xfrm>
            <a:off x="7763470" y="5751909"/>
            <a:ext cx="2087910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{Omfattning 5 %}</a:t>
            </a:r>
            <a:endParaRPr lang="en-US" sz="1650" dirty="0"/>
          </a:p>
        </p:txBody>
      </p:sp>
      <p:sp>
        <p:nvSpPr>
          <p:cNvPr id="60" name="Text 58"/>
          <p:cNvSpPr/>
          <p:nvPr/>
        </p:nvSpPr>
        <p:spPr>
          <a:xfrm>
            <a:off x="10156180" y="5751909"/>
            <a:ext cx="1876276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{Timpris 5}</a:t>
            </a:r>
            <a:endParaRPr lang="en-US" sz="1650" dirty="0"/>
          </a:p>
        </p:txBody>
      </p:sp>
      <p:sp>
        <p:nvSpPr>
          <p:cNvPr id="61" name="Text 59"/>
          <p:cNvSpPr/>
          <p:nvPr/>
        </p:nvSpPr>
        <p:spPr>
          <a:xfrm>
            <a:off x="12337256" y="5751909"/>
            <a:ext cx="1923008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{Timmar 5}</a:t>
            </a:r>
            <a:endParaRPr lang="en-US" sz="1650" dirty="0"/>
          </a:p>
        </p:txBody>
      </p:sp>
      <p:sp>
        <p:nvSpPr>
          <p:cNvPr id="62" name="Text 60"/>
          <p:cNvSpPr/>
          <p:nvPr/>
        </p:nvSpPr>
        <p:spPr>
          <a:xfrm>
            <a:off x="14565064" y="5751909"/>
            <a:ext cx="2472549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{Total 5}</a:t>
            </a:r>
            <a:endParaRPr lang="en-US" sz="1650" dirty="0"/>
          </a:p>
        </p:txBody>
      </p:sp>
      <p:sp>
        <p:nvSpPr>
          <p:cNvPr id="63" name="Shape 61"/>
          <p:cNvSpPr/>
          <p:nvPr/>
        </p:nvSpPr>
        <p:spPr>
          <a:xfrm>
            <a:off x="1143000" y="6881515"/>
            <a:ext cx="16002000" cy="9525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4" name="Shape 62"/>
          <p:cNvSpPr/>
          <p:nvPr/>
        </p:nvSpPr>
        <p:spPr>
          <a:xfrm>
            <a:off x="1143000" y="6226225"/>
            <a:ext cx="11003756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5" name="Text 63"/>
          <p:cNvSpPr/>
          <p:nvPr/>
        </p:nvSpPr>
        <p:spPr>
          <a:xfrm>
            <a:off x="1333500" y="6426250"/>
            <a:ext cx="10952869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Summa — anbudspris exkl. moms</a:t>
            </a:r>
            <a:endParaRPr lang="en-US" sz="1650" dirty="0"/>
          </a:p>
        </p:txBody>
      </p:sp>
      <p:sp>
        <p:nvSpPr>
          <p:cNvPr id="66" name="Shape 64"/>
          <p:cNvSpPr/>
          <p:nvPr/>
        </p:nvSpPr>
        <p:spPr>
          <a:xfrm>
            <a:off x="12146756" y="6226225"/>
            <a:ext cx="2227808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7" name="Text 65"/>
          <p:cNvSpPr/>
          <p:nvPr/>
        </p:nvSpPr>
        <p:spPr>
          <a:xfrm>
            <a:off x="12337256" y="6426250"/>
            <a:ext cx="1923008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{Summa timmar}</a:t>
            </a:r>
            <a:endParaRPr lang="en-US" sz="1650" dirty="0"/>
          </a:p>
        </p:txBody>
      </p:sp>
      <p:sp>
        <p:nvSpPr>
          <p:cNvPr id="68" name="Shape 66"/>
          <p:cNvSpPr/>
          <p:nvPr/>
        </p:nvSpPr>
        <p:spPr>
          <a:xfrm>
            <a:off x="14374564" y="6226225"/>
            <a:ext cx="2770436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9" name="Text 67"/>
          <p:cNvSpPr/>
          <p:nvPr/>
        </p:nvSpPr>
        <p:spPr>
          <a:xfrm>
            <a:off x="14565064" y="6426250"/>
            <a:ext cx="2472549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{Anbudspris totalt}</a:t>
            </a:r>
            <a:endParaRPr lang="en-US" sz="1650" dirty="0"/>
          </a:p>
        </p:txBody>
      </p:sp>
      <p:sp>
        <p:nvSpPr>
          <p:cNvPr id="70" name="Text 68"/>
          <p:cNvSpPr/>
          <p:nvPr/>
        </p:nvSpPr>
        <p:spPr>
          <a:xfrm>
            <a:off x="1143000" y="7162502"/>
            <a:ext cx="1648206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Samtliga priser anges i SEK exklusive moms. Omfattning anger del av heltid under uppdragstiden.</a:t>
            </a:r>
            <a:endParaRPr lang="en-US" sz="1350" dirty="0"/>
          </a:p>
        </p:txBody>
      </p:sp>
      <p:sp>
        <p:nvSpPr>
          <p:cNvPr id="71" name="Shape 69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72" name="Text 70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73" name="Text 71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17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13 · UPPFYLLELSE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3811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Uppfyllelse av ska-krav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143000" y="2405063"/>
            <a:ext cx="1280071" cy="832247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" name="Shape 3"/>
          <p:cNvSpPr/>
          <p:nvPr/>
        </p:nvSpPr>
        <p:spPr>
          <a:xfrm>
            <a:off x="1143000" y="3227784"/>
            <a:ext cx="1280071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" name="Shape 4"/>
          <p:cNvSpPr/>
          <p:nvPr/>
        </p:nvSpPr>
        <p:spPr>
          <a:xfrm>
            <a:off x="1143000" y="2405063"/>
            <a:ext cx="1280071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1333500" y="2586038"/>
            <a:ext cx="975271" cy="5083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NR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2423071" y="2405063"/>
            <a:ext cx="5120580" cy="832247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9" name="Shape 7"/>
          <p:cNvSpPr/>
          <p:nvPr/>
        </p:nvSpPr>
        <p:spPr>
          <a:xfrm>
            <a:off x="2423071" y="3227784"/>
            <a:ext cx="512058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0" name="Shape 8"/>
          <p:cNvSpPr/>
          <p:nvPr/>
        </p:nvSpPr>
        <p:spPr>
          <a:xfrm>
            <a:off x="2423071" y="2405063"/>
            <a:ext cx="512058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1" name="Text 9"/>
          <p:cNvSpPr/>
          <p:nvPr/>
        </p:nvSpPr>
        <p:spPr>
          <a:xfrm>
            <a:off x="2613571" y="2586038"/>
            <a:ext cx="4893198" cy="5083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SKA-KRAV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3651" y="2405063"/>
            <a:ext cx="1600200" cy="832247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3" name="Shape 11"/>
          <p:cNvSpPr/>
          <p:nvPr/>
        </p:nvSpPr>
        <p:spPr>
          <a:xfrm>
            <a:off x="7543651" y="3227784"/>
            <a:ext cx="16002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4" name="Shape 12"/>
          <p:cNvSpPr/>
          <p:nvPr/>
        </p:nvSpPr>
        <p:spPr>
          <a:xfrm>
            <a:off x="7543651" y="2405063"/>
            <a:ext cx="16002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5" name="Text 13"/>
          <p:cNvSpPr/>
          <p:nvPr/>
        </p:nvSpPr>
        <p:spPr>
          <a:xfrm>
            <a:off x="7734151" y="2586038"/>
            <a:ext cx="1295400" cy="5083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UPPFYLLT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143851" y="2405063"/>
            <a:ext cx="4800600" cy="832247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7" name="Shape 15"/>
          <p:cNvSpPr/>
          <p:nvPr/>
        </p:nvSpPr>
        <p:spPr>
          <a:xfrm>
            <a:off x="9143851" y="3227784"/>
            <a:ext cx="48006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8" name="Shape 16"/>
          <p:cNvSpPr/>
          <p:nvPr/>
        </p:nvSpPr>
        <p:spPr>
          <a:xfrm>
            <a:off x="9143851" y="2405063"/>
            <a:ext cx="48006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9" name="Text 17"/>
          <p:cNvSpPr/>
          <p:nvPr/>
        </p:nvSpPr>
        <p:spPr>
          <a:xfrm>
            <a:off x="9334351" y="2586038"/>
            <a:ext cx="4563618" cy="5083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HUR KRAVET UPPFYLLS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13944451" y="2405063"/>
            <a:ext cx="3200549" cy="832247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1" name="Shape 19"/>
          <p:cNvSpPr/>
          <p:nvPr/>
        </p:nvSpPr>
        <p:spPr>
          <a:xfrm>
            <a:off x="13944451" y="3227784"/>
            <a:ext cx="3200549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2" name="Shape 20"/>
          <p:cNvSpPr/>
          <p:nvPr/>
        </p:nvSpPr>
        <p:spPr>
          <a:xfrm>
            <a:off x="13944451" y="2405063"/>
            <a:ext cx="3200549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3" name="Text 21"/>
          <p:cNvSpPr/>
          <p:nvPr/>
        </p:nvSpPr>
        <p:spPr>
          <a:xfrm>
            <a:off x="14134951" y="2586038"/>
            <a:ext cx="2915565" cy="5083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REFERENS (CV / ERFARENHET)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1143000" y="416689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5" name="Text 23"/>
          <p:cNvSpPr/>
          <p:nvPr/>
        </p:nvSpPr>
        <p:spPr>
          <a:xfrm>
            <a:off x="1333500" y="3408759"/>
            <a:ext cx="975271" cy="6343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2613571" y="3408759"/>
            <a:ext cx="4893198" cy="6343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{Ska-krav 1 — formulering enligt upphandlingsunderlag}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7734151" y="3423047"/>
            <a:ext cx="435918" cy="289471"/>
          </a:xfrm>
          <a:prstGeom prst="roundRect">
            <a:avLst>
              <a:gd name="adj" fmla="val 6581"/>
            </a:avLst>
          </a:prstGeom>
          <a:solidFill>
            <a:srgbClr val="00000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8" name="Text 26"/>
          <p:cNvSpPr/>
          <p:nvPr/>
        </p:nvSpPr>
        <p:spPr>
          <a:xfrm>
            <a:off x="7848451" y="3461147"/>
            <a:ext cx="283518" cy="251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kern="0" spc="96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JA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334351" y="3408759"/>
            <a:ext cx="4563618" cy="6343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{Hur krav 1 uppfylls — konkret beskrivning}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4134951" y="3408759"/>
            <a:ext cx="2915565" cy="6343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{CV/ref 1}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143000" y="4818311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2" name="Text 30"/>
          <p:cNvSpPr/>
          <p:nvPr/>
        </p:nvSpPr>
        <p:spPr>
          <a:xfrm>
            <a:off x="1333500" y="4347865"/>
            <a:ext cx="975271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2613571" y="4347865"/>
            <a:ext cx="489319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{Ska-krav 2}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7734151" y="4362152"/>
            <a:ext cx="435918" cy="289471"/>
          </a:xfrm>
          <a:prstGeom prst="roundRect">
            <a:avLst>
              <a:gd name="adj" fmla="val 6581"/>
            </a:avLst>
          </a:prstGeom>
          <a:solidFill>
            <a:srgbClr val="00000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5" name="Text 33"/>
          <p:cNvSpPr/>
          <p:nvPr/>
        </p:nvSpPr>
        <p:spPr>
          <a:xfrm>
            <a:off x="7848451" y="4400252"/>
            <a:ext cx="283518" cy="251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kern="0" spc="96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JA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334351" y="4347865"/>
            <a:ext cx="456361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{Hur krav 2 uppfylls}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4134951" y="4347865"/>
            <a:ext cx="2915565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{CV/ref 2}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143000" y="5469731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9" name="Text 37"/>
          <p:cNvSpPr/>
          <p:nvPr/>
        </p:nvSpPr>
        <p:spPr>
          <a:xfrm>
            <a:off x="1333500" y="4999286"/>
            <a:ext cx="975271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2613571" y="4999286"/>
            <a:ext cx="489319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{Ska-krav 3}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7734151" y="5013573"/>
            <a:ext cx="435918" cy="289471"/>
          </a:xfrm>
          <a:prstGeom prst="roundRect">
            <a:avLst>
              <a:gd name="adj" fmla="val 6581"/>
            </a:avLst>
          </a:prstGeom>
          <a:solidFill>
            <a:srgbClr val="00000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2" name="Text 40"/>
          <p:cNvSpPr/>
          <p:nvPr/>
        </p:nvSpPr>
        <p:spPr>
          <a:xfrm>
            <a:off x="7848451" y="5051673"/>
            <a:ext cx="283518" cy="251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kern="0" spc="96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JA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9334351" y="4999286"/>
            <a:ext cx="456361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{Hur krav 3 uppfylls}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14134951" y="4999286"/>
            <a:ext cx="2915565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{CV/ref 3}</a:t>
            </a:r>
            <a:endParaRPr lang="en-US" sz="1650" dirty="0"/>
          </a:p>
        </p:txBody>
      </p:sp>
      <p:sp>
        <p:nvSpPr>
          <p:cNvPr id="45" name="Shape 43"/>
          <p:cNvSpPr/>
          <p:nvPr/>
        </p:nvSpPr>
        <p:spPr>
          <a:xfrm>
            <a:off x="1143000" y="6121152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6" name="Text 44"/>
          <p:cNvSpPr/>
          <p:nvPr/>
        </p:nvSpPr>
        <p:spPr>
          <a:xfrm>
            <a:off x="1333500" y="5650706"/>
            <a:ext cx="975271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650" dirty="0"/>
          </a:p>
        </p:txBody>
      </p:sp>
      <p:sp>
        <p:nvSpPr>
          <p:cNvPr id="47" name="Text 45"/>
          <p:cNvSpPr/>
          <p:nvPr/>
        </p:nvSpPr>
        <p:spPr>
          <a:xfrm>
            <a:off x="2613571" y="5650706"/>
            <a:ext cx="489319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{Ska-krav 4}</a:t>
            </a:r>
            <a:endParaRPr lang="en-US" sz="1650" dirty="0"/>
          </a:p>
        </p:txBody>
      </p:sp>
      <p:sp>
        <p:nvSpPr>
          <p:cNvPr id="48" name="Shape 46"/>
          <p:cNvSpPr/>
          <p:nvPr/>
        </p:nvSpPr>
        <p:spPr>
          <a:xfrm>
            <a:off x="7734151" y="5664994"/>
            <a:ext cx="435918" cy="289471"/>
          </a:xfrm>
          <a:prstGeom prst="roundRect">
            <a:avLst>
              <a:gd name="adj" fmla="val 6581"/>
            </a:avLst>
          </a:prstGeom>
          <a:solidFill>
            <a:srgbClr val="00000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9" name="Text 47"/>
          <p:cNvSpPr/>
          <p:nvPr/>
        </p:nvSpPr>
        <p:spPr>
          <a:xfrm>
            <a:off x="7848451" y="5703094"/>
            <a:ext cx="283518" cy="251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kern="0" spc="96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JA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9334351" y="5650706"/>
            <a:ext cx="456361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{Hur krav 4 uppfylls}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4134951" y="5650706"/>
            <a:ext cx="2915565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{CV/ref 4}</a:t>
            </a:r>
            <a:endParaRPr lang="en-US" sz="1650" dirty="0"/>
          </a:p>
        </p:txBody>
      </p:sp>
      <p:sp>
        <p:nvSpPr>
          <p:cNvPr id="52" name="Shape 50"/>
          <p:cNvSpPr/>
          <p:nvPr/>
        </p:nvSpPr>
        <p:spPr>
          <a:xfrm>
            <a:off x="1143000" y="6772573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3" name="Text 51"/>
          <p:cNvSpPr/>
          <p:nvPr/>
        </p:nvSpPr>
        <p:spPr>
          <a:xfrm>
            <a:off x="1333500" y="6302127"/>
            <a:ext cx="975271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650" dirty="0"/>
          </a:p>
        </p:txBody>
      </p:sp>
      <p:sp>
        <p:nvSpPr>
          <p:cNvPr id="54" name="Text 52"/>
          <p:cNvSpPr/>
          <p:nvPr/>
        </p:nvSpPr>
        <p:spPr>
          <a:xfrm>
            <a:off x="2613571" y="6302127"/>
            <a:ext cx="489319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{Ska-krav 5}</a:t>
            </a:r>
            <a:endParaRPr lang="en-US" sz="1650" dirty="0"/>
          </a:p>
        </p:txBody>
      </p:sp>
      <p:sp>
        <p:nvSpPr>
          <p:cNvPr id="55" name="Shape 53"/>
          <p:cNvSpPr/>
          <p:nvPr/>
        </p:nvSpPr>
        <p:spPr>
          <a:xfrm>
            <a:off x="7734151" y="6316414"/>
            <a:ext cx="435918" cy="289471"/>
          </a:xfrm>
          <a:prstGeom prst="roundRect">
            <a:avLst>
              <a:gd name="adj" fmla="val 6581"/>
            </a:avLst>
          </a:prstGeom>
          <a:solidFill>
            <a:srgbClr val="00000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6" name="Text 54"/>
          <p:cNvSpPr/>
          <p:nvPr/>
        </p:nvSpPr>
        <p:spPr>
          <a:xfrm>
            <a:off x="7848451" y="6354514"/>
            <a:ext cx="283518" cy="251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kern="0" spc="96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JA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9334351" y="6302127"/>
            <a:ext cx="456361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{Hur krav 5 uppfylls}</a:t>
            </a:r>
            <a:endParaRPr lang="en-US" sz="1650" dirty="0"/>
          </a:p>
        </p:txBody>
      </p:sp>
      <p:sp>
        <p:nvSpPr>
          <p:cNvPr id="58" name="Text 56"/>
          <p:cNvSpPr/>
          <p:nvPr/>
        </p:nvSpPr>
        <p:spPr>
          <a:xfrm>
            <a:off x="14134951" y="6302127"/>
            <a:ext cx="2915565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{CV/ref 5}</a:t>
            </a:r>
            <a:endParaRPr lang="en-US" sz="1650" dirty="0"/>
          </a:p>
        </p:txBody>
      </p:sp>
      <p:sp>
        <p:nvSpPr>
          <p:cNvPr id="59" name="Shape 57"/>
          <p:cNvSpPr/>
          <p:nvPr/>
        </p:nvSpPr>
        <p:spPr>
          <a:xfrm>
            <a:off x="1143000" y="7423993"/>
            <a:ext cx="16002000" cy="9525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0" name="Text 58"/>
          <p:cNvSpPr/>
          <p:nvPr/>
        </p:nvSpPr>
        <p:spPr>
          <a:xfrm>
            <a:off x="1333500" y="6953548"/>
            <a:ext cx="975271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650" dirty="0"/>
          </a:p>
        </p:txBody>
      </p:sp>
      <p:sp>
        <p:nvSpPr>
          <p:cNvPr id="61" name="Text 59"/>
          <p:cNvSpPr/>
          <p:nvPr/>
        </p:nvSpPr>
        <p:spPr>
          <a:xfrm>
            <a:off x="2613571" y="6953548"/>
            <a:ext cx="489319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{Ska-krav 6}</a:t>
            </a:r>
            <a:endParaRPr lang="en-US" sz="1650" dirty="0"/>
          </a:p>
        </p:txBody>
      </p:sp>
      <p:sp>
        <p:nvSpPr>
          <p:cNvPr id="62" name="Shape 60"/>
          <p:cNvSpPr/>
          <p:nvPr/>
        </p:nvSpPr>
        <p:spPr>
          <a:xfrm>
            <a:off x="7734151" y="6967835"/>
            <a:ext cx="435918" cy="289471"/>
          </a:xfrm>
          <a:prstGeom prst="roundRect">
            <a:avLst>
              <a:gd name="adj" fmla="val 6581"/>
            </a:avLst>
          </a:prstGeom>
          <a:solidFill>
            <a:srgbClr val="00000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3" name="Text 61"/>
          <p:cNvSpPr/>
          <p:nvPr/>
        </p:nvSpPr>
        <p:spPr>
          <a:xfrm>
            <a:off x="7848451" y="7005935"/>
            <a:ext cx="283518" cy="251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kern="0" spc="96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JA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9334351" y="6953548"/>
            <a:ext cx="456361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{Hur krav 6 uppfylls}</a:t>
            </a:r>
            <a:endParaRPr lang="en-US" sz="1650" dirty="0"/>
          </a:p>
        </p:txBody>
      </p:sp>
      <p:sp>
        <p:nvSpPr>
          <p:cNvPr id="65" name="Text 63"/>
          <p:cNvSpPr/>
          <p:nvPr/>
        </p:nvSpPr>
        <p:spPr>
          <a:xfrm>
            <a:off x="14134951" y="6953548"/>
            <a:ext cx="2915565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{CV/ref 6}</a:t>
            </a:r>
            <a:endParaRPr lang="en-US" sz="1650" dirty="0"/>
          </a:p>
        </p:txBody>
      </p:sp>
      <p:sp>
        <p:nvSpPr>
          <p:cNvPr id="66" name="Shape 64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7" name="Text 65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68" name="Text 66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17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14 · REFERENS 01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3811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{Referens 1 — kundnamn}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143000" y="2095500"/>
            <a:ext cx="1648206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kern="0" spc="-3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{Referens 1 — kort kontextrad, t.ex. ”Digitalisering av ärendehantering”}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143000" y="2990850"/>
            <a:ext cx="160020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" name="Text 4"/>
          <p:cNvSpPr/>
          <p:nvPr/>
        </p:nvSpPr>
        <p:spPr>
          <a:xfrm>
            <a:off x="1143000" y="3305175"/>
            <a:ext cx="353187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KUND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43000" y="3552825"/>
            <a:ext cx="3531870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{Kund — organisation}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4089946"/>
            <a:ext cx="353187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PERIOD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" y="4337596"/>
            <a:ext cx="3531870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{Start MM/ÅÅÅÅ} — {Slut MM/ÅÅÅÅ}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5183237"/>
            <a:ext cx="353187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OMFATTNING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43000" y="5430887"/>
            <a:ext cx="3531870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{Omfattning — antal timmar, konsulter och total volym}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43000" y="6276529"/>
            <a:ext cx="353187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KONTAKTPERSON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43000" y="6524179"/>
            <a:ext cx="3531870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{Namn} </a:t>
            </a:r>
            <a:r>
              <a:rPr lang="en-US" sz="13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{Titel} · {Telefon} · {E-post}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143500" y="3305175"/>
            <a:ext cx="1236154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ROLL OCH LEVERANS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43500" y="3590925"/>
            <a:ext cx="12361545" cy="3970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{Roll/leverans — vilken roll vi hade och vad vi levererade, konkret och verifierbart}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5143500" y="4254698"/>
            <a:ext cx="1236154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RESULTAT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43500" y="4540448"/>
            <a:ext cx="12361545" cy="3970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{Resultat — mätbart utfall av uppdraget, gärna med siffror och tidsbesparing}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9" name="Text 17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 / 17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15 · REFERENS 02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3811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{Referens 2 — kundnamn}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143000" y="2095500"/>
            <a:ext cx="1648206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kern="0" spc="-3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{Referens 2 — kort kontextrad}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143000" y="2990850"/>
            <a:ext cx="160020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" name="Text 4"/>
          <p:cNvSpPr/>
          <p:nvPr/>
        </p:nvSpPr>
        <p:spPr>
          <a:xfrm>
            <a:off x="1143000" y="3305175"/>
            <a:ext cx="353187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KUND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43000" y="3552825"/>
            <a:ext cx="3531870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{Kund — organisation}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4089946"/>
            <a:ext cx="353187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PERIOD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" y="4337596"/>
            <a:ext cx="3531870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{Start MM/ÅÅÅÅ} — {Slut MM/ÅÅÅÅ}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5183237"/>
            <a:ext cx="353187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OMFATTNING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43000" y="5430887"/>
            <a:ext cx="3531870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{Omfattning — antal timmar, konsulter och total volym}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43000" y="6276529"/>
            <a:ext cx="353187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KONTAKTPERSON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43000" y="6524179"/>
            <a:ext cx="3531870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{Namn} </a:t>
            </a:r>
            <a:r>
              <a:rPr lang="en-US" sz="13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{Titel} · {Telefon} · {E-post}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143500" y="3305175"/>
            <a:ext cx="1236154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ROLL OCH LEVERANS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43500" y="3590925"/>
            <a:ext cx="12361545" cy="3970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{Roll/leverans}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5143500" y="4254698"/>
            <a:ext cx="1236154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RESULTAT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43500" y="4540448"/>
            <a:ext cx="12361545" cy="3970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{Resultat}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9" name="Text 17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 / 17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16 · ANBUDSSEKRETESS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3811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Anbudssekretess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143000" y="2095500"/>
            <a:ext cx="1648206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kern="0" spc="-3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Begäran om sekretess enligt offentlighets- och sekretesslagen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" y="2914650"/>
            <a:ext cx="156972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{Bolagsnamn} </a:t>
            </a:r>
            <a:r>
              <a:rPr lang="en-US" sz="180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begär härmed att följande uppgifter i anbudet omfattas av sekretess enligt </a:t>
            </a:r>
            <a:r>
              <a:rPr lang="en-US" sz="18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{OSL kap X §Y} </a:t>
            </a:r>
            <a:r>
              <a:rPr lang="en-US" sz="180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. Ett offentliggörande av nedanstående uppgifter bedöms medföra sådan skada att uppgifterna inte bör lämnas ut.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143000" y="4535686"/>
            <a:ext cx="160020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7" name="Shape 5"/>
          <p:cNvSpPr/>
          <p:nvPr/>
        </p:nvSpPr>
        <p:spPr>
          <a:xfrm>
            <a:off x="1143000" y="3981450"/>
            <a:ext cx="160020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8" name="Text 6"/>
          <p:cNvSpPr/>
          <p:nvPr/>
        </p:nvSpPr>
        <p:spPr>
          <a:xfrm>
            <a:off x="1143000" y="4143375"/>
            <a:ext cx="1219200" cy="278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REFERENS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667000" y="4143375"/>
            <a:ext cx="7259955" cy="278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OMFATTAR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0096500" y="4143375"/>
            <a:ext cx="7259955" cy="278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MOTIVERING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1143000" y="5535811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2" name="Text 10"/>
          <p:cNvSpPr/>
          <p:nvPr/>
        </p:nvSpPr>
        <p:spPr>
          <a:xfrm>
            <a:off x="1143000" y="4773811"/>
            <a:ext cx="12192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{Slide/Bilaga 1}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667000" y="4773811"/>
            <a:ext cx="725995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{Uppgift som omfattas av sekretess}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096500" y="4773811"/>
            <a:ext cx="725995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{Varför — skadan som uppstår vid utlämnande}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143000" y="6535936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6" name="Text 14"/>
          <p:cNvSpPr/>
          <p:nvPr/>
        </p:nvSpPr>
        <p:spPr>
          <a:xfrm>
            <a:off x="1143000" y="5773936"/>
            <a:ext cx="12192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{Slide/Bilaga 2}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67000" y="5773936"/>
            <a:ext cx="725995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{Uppgift som omfattas}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0096500" y="5773936"/>
            <a:ext cx="725995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{Motivering}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143000" y="7536061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0" name="Text 18"/>
          <p:cNvSpPr/>
          <p:nvPr/>
        </p:nvSpPr>
        <p:spPr>
          <a:xfrm>
            <a:off x="1143000" y="6774061"/>
            <a:ext cx="12192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{Slide/Bilaga 3}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667000" y="6774061"/>
            <a:ext cx="725995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{Uppgift som omfattas}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0096500" y="6774061"/>
            <a:ext cx="725995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{Motivering}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143000" y="8536186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4" name="Text 22"/>
          <p:cNvSpPr/>
          <p:nvPr/>
        </p:nvSpPr>
        <p:spPr>
          <a:xfrm>
            <a:off x="1143000" y="7774186"/>
            <a:ext cx="12192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{Slide/Bilaga 4}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2667000" y="7774186"/>
            <a:ext cx="725995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{Uppgift som omfattas}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0096500" y="7774186"/>
            <a:ext cx="725995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{Motivering}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8" name="Text 26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 / 17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17 · CERTIFIERINGAR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3811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Certifieringar och kvalitetsmärkningar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143000" y="3790950"/>
            <a:ext cx="77724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" name="Text 3"/>
          <p:cNvSpPr/>
          <p:nvPr/>
        </p:nvSpPr>
        <p:spPr>
          <a:xfrm>
            <a:off x="1143000" y="2552700"/>
            <a:ext cx="800557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ISO 9001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143000" y="2933700"/>
            <a:ext cx="800557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Kvalitetsledningssystem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3333750"/>
            <a:ext cx="135642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CERTIFIKATNR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518470" y="3333750"/>
            <a:ext cx="172223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{Certifikatnummer}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45509" y="3333750"/>
            <a:ext cx="146312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GILTIG T.O.M.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27688" y="3333750"/>
            <a:ext cx="14478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{Giltighetstid}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372600" y="3790950"/>
            <a:ext cx="77724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2" name="Text 10"/>
          <p:cNvSpPr/>
          <p:nvPr/>
        </p:nvSpPr>
        <p:spPr>
          <a:xfrm>
            <a:off x="9372600" y="2552700"/>
            <a:ext cx="800557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ISO 27001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372600" y="2933700"/>
            <a:ext cx="800557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Ledningssystem för informationssäkerhet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372600" y="3333750"/>
            <a:ext cx="135642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CERTIFIKATNR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748070" y="3333750"/>
            <a:ext cx="172223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{Certifikatnummer}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775109" y="3333750"/>
            <a:ext cx="146312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GILTIG T.O.M.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4257288" y="3333750"/>
            <a:ext cx="14478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{Giltighetstid}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143000" y="5305425"/>
            <a:ext cx="77724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9" name="Text 17"/>
          <p:cNvSpPr/>
          <p:nvPr/>
        </p:nvSpPr>
        <p:spPr>
          <a:xfrm>
            <a:off x="1143000" y="4067175"/>
            <a:ext cx="800557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ISO 14001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143000" y="4448175"/>
            <a:ext cx="800557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Miljöledningssystem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143000" y="4848225"/>
            <a:ext cx="135642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CERTIFIKATNR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518470" y="4848225"/>
            <a:ext cx="172223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{Certifikatnummer}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45509" y="4848225"/>
            <a:ext cx="146312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GILTIG T.O.M.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027688" y="4848225"/>
            <a:ext cx="14478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{Giltighetstid}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372600" y="5305425"/>
            <a:ext cx="77724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9372600" y="4067175"/>
            <a:ext cx="800557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{Övrig relevant certifiering}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9372600" y="4448175"/>
            <a:ext cx="800557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{Beskrivning}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372600" y="4848225"/>
            <a:ext cx="135642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CERTIFIKATNR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748070" y="4848225"/>
            <a:ext cx="172223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{Certifikatnummer}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2775109" y="4848225"/>
            <a:ext cx="146312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GILTIG T.O.M.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257288" y="4848225"/>
            <a:ext cx="14478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{Giltighetstid}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143000" y="5695950"/>
            <a:ext cx="1648206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Kopior av samtliga certifikat bifogas anbudet som separata bilagor.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4" name="Text 32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 / 17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1908</Words>
  <Application>Microsoft Office PowerPoint</Application>
  <PresentationFormat>Anpassad</PresentationFormat>
  <Paragraphs>468</Paragraphs>
  <Slides>17</Slides>
  <Notes>17</Notes>
  <HiddenSlides>0</HiddenSlides>
  <MMClips>0</MMClips>
  <ScaleCrop>false</ScaleCrop>
  <HeadingPairs>
    <vt:vector size="6" baseType="variant">
      <vt:variant>
        <vt:lpstr>Använt teckensnitt</vt:lpstr>
      </vt:variant>
      <vt:variant>
        <vt:i4>4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17</vt:i4>
      </vt:variant>
    </vt:vector>
  </HeadingPairs>
  <TitlesOfParts>
    <vt:vector size="22" baseType="lpstr">
      <vt:lpstr>-apple-system</vt:lpstr>
      <vt:lpstr>Arial</vt:lpstr>
      <vt:lpstr>IBM Plex Mono</vt:lpstr>
      <vt:lpstr>IBM Plex Sans</vt:lpstr>
      <vt:lpstr>Office Theme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Stefan Edgren</cp:lastModifiedBy>
  <cp:revision>2</cp:revision>
  <dcterms:created xsi:type="dcterms:W3CDTF">2026-04-19T07:25:46Z</dcterms:created>
  <dcterms:modified xsi:type="dcterms:W3CDTF">2026-04-19T07:34:00Z</dcterms:modified>
</cp:coreProperties>
</file>
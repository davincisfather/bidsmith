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532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40731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A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{Bolagsnamn}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5762982" y="914400"/>
            <a:ext cx="145821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{Anbudsdatum}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3000" y="3574554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ANBUD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4117479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8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TILL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4488954"/>
            <a:ext cx="16482060" cy="73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400" b="1" kern="0" spc="-108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{Kundnamn}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5569446"/>
            <a:ext cx="117729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000" kern="0" spc="-30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{Upphandlingens namn}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143000" y="8410575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8801100"/>
            <a:ext cx="51002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DIARIENUMMER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9096375"/>
            <a:ext cx="51002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856661" y="8801100"/>
            <a:ext cx="497083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ANBUDSDATUM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6661" y="9096375"/>
            <a:ext cx="497083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{Anbudsdatum}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444710" y="8801100"/>
            <a:ext cx="48412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08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ANBUDSGIVARE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444710" y="9096375"/>
            <a:ext cx="484129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INNEHÅLL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Innehållsförteckning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9155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4583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752600" y="24488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Försättssida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525000" y="29155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9525000" y="24583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134600" y="24488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 4 — detalj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37347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1143000" y="32775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752600" y="32679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Innehåll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525000" y="37347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9525000" y="32775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134600" y="32679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Kvalitetssäkring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143000" y="45538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143000" y="40966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52600" y="40871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Vår förståelse — Kunden idag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525000" y="45538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9525000" y="40966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0134600" y="40871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Team, omfattning och pris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143000" y="53730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143000" y="49158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752600" y="49062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Vår förståelse — Uppdraget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9525000" y="53730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9525000" y="49158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0134600" y="49062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Uppfyllelse av ska-krav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143000" y="61921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1143000" y="57349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752600" y="57254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Vår förståelse — Utmaningar och värde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9525000" y="61921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9525000" y="57349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134600" y="57254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Referensuppdrag 1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143000" y="70113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1143000" y="65541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752600" y="65445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Genomförande — översikt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9525000" y="70113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9525000" y="65541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134600" y="65445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Referensuppdrag 2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143000" y="78304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1" name="Text 39"/>
          <p:cNvSpPr/>
          <p:nvPr/>
        </p:nvSpPr>
        <p:spPr>
          <a:xfrm>
            <a:off x="1143000" y="73732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752600" y="73637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 1 — detalj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9525000" y="783047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9525000" y="73732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0134600" y="73637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Anbudssekretess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143000" y="86496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7" name="Text 45"/>
          <p:cNvSpPr/>
          <p:nvPr/>
        </p:nvSpPr>
        <p:spPr>
          <a:xfrm>
            <a:off x="1143000" y="81924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752600" y="81828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 2 — detalj</a:t>
            </a:r>
            <a:endParaRPr lang="en-US" sz="1950" dirty="0"/>
          </a:p>
        </p:txBody>
      </p:sp>
      <p:sp>
        <p:nvSpPr>
          <p:cNvPr id="49" name="Shape 47"/>
          <p:cNvSpPr/>
          <p:nvPr/>
        </p:nvSpPr>
        <p:spPr>
          <a:xfrm>
            <a:off x="9525000" y="8649621"/>
            <a:ext cx="7620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9525000" y="819242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0134600" y="818289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Certifieringar</a:t>
            </a:r>
            <a:endParaRPr lang="en-US" sz="1950" dirty="0"/>
          </a:p>
        </p:txBody>
      </p:sp>
      <p:sp>
        <p:nvSpPr>
          <p:cNvPr id="53" name="Text 51"/>
          <p:cNvSpPr/>
          <p:nvPr/>
        </p:nvSpPr>
        <p:spPr>
          <a:xfrm>
            <a:off x="1143000" y="9011571"/>
            <a:ext cx="6858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752600" y="9002046"/>
            <a:ext cx="722071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 3 — detalj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1143000" y="9471996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7" name="Text 55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8" name="Text 56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17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Kunden idag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ORGANISATION OCH SYSTEM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3086100"/>
            <a:ext cx="7887843" cy="6030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{Nuläge}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4869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94869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SMÄRTPUNKTER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486900" y="3086100"/>
            <a:ext cx="7887843" cy="6030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85750" indent="-285750" algn="l">
              <a:lnSpc>
                <a:spcPct val="140000"/>
              </a:lnSpc>
              <a:buFont typeface="Arial" panose="020B0604020202020204" pitchFamily="34" charset="0"/>
              <a:buChar char="—"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{Smärtpunkter}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17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Uppdragsbeskrivning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Uppdraget parafraserat — så läser vi RFP:n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3067049"/>
            <a:ext cx="16002000" cy="6067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100" dirty="0"/>
              <a:t>{</a:t>
            </a:r>
            <a:r>
              <a:rPr lang="en-US" sz="2100" dirty="0" err="1"/>
              <a:t>Stycken</a:t>
            </a:r>
            <a:r>
              <a:rPr lang="en-US" sz="2100" dirty="0"/>
              <a:t>}</a:t>
            </a:r>
          </a:p>
        </p:txBody>
      </p:sp>
      <p:sp>
        <p:nvSpPr>
          <p:cNvPr id="6" name="Text 4"/>
          <p:cNvSpPr/>
          <p:nvPr/>
        </p:nvSpPr>
        <p:spPr>
          <a:xfrm>
            <a:off x="1143000" y="405765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5048250"/>
            <a:ext cx="1471612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17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VÅR FÖRSTÅELSE AV UPPDRAGET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Vad vi ser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IDENTIFIERADE UTMANINGAR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143000" y="3086099"/>
            <a:ext cx="19050" cy="622800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90650" y="3086099"/>
            <a:ext cx="7640193" cy="6227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</a:t>
            </a:r>
            <a:r>
              <a:rPr lang="en-US" sz="1950" dirty="0" err="1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Utmaningar</a:t>
            </a: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9486900" y="2867025"/>
            <a:ext cx="76581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9486900" y="2514600"/>
            <a:ext cx="7887843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VÄRDE UTÖVER SKA-KRAVEN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734550" y="3086100"/>
            <a:ext cx="7640193" cy="6228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</a:t>
            </a:r>
            <a:r>
              <a:rPr lang="en-US" sz="1950" dirty="0" err="1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Värden</a:t>
            </a:r>
            <a:r>
              <a:rPr lang="en-US" sz="19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}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734550" y="3988891"/>
            <a:ext cx="7640193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17</a:t>
            </a:r>
            <a:endParaRPr lang="en-US" sz="135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C3780692-53D5-B853-90B3-1805539B51B9}"/>
              </a:ext>
            </a:extLst>
          </p:cNvPr>
          <p:cNvSpPr/>
          <p:nvPr/>
        </p:nvSpPr>
        <p:spPr>
          <a:xfrm>
            <a:off x="9486900" y="3086100"/>
            <a:ext cx="19050" cy="622800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GENOMFÖRANDE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2287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Genomförande — översikt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430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924175"/>
            <a:ext cx="3885057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kort beskrivning. Detaljer på nästa slide.}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197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52197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2197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97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beskrivning}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2964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92964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2964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2964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beskrivning}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3373100" y="2133600"/>
            <a:ext cx="37719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3373100" y="2333625"/>
            <a:ext cx="38850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373100" y="2581275"/>
            <a:ext cx="38850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73100" y="2924175"/>
            <a:ext cx="3885057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beskrivning}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143000" y="8345091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143000" y="3916561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143000" y="4411861"/>
            <a:ext cx="2667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295400" y="4059436"/>
            <a:ext cx="24422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8100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37814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211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48925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245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00387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436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71150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549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3" name="Text 31"/>
          <p:cNvSpPr/>
          <p:nvPr/>
        </p:nvSpPr>
        <p:spPr>
          <a:xfrm>
            <a:off x="82263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662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93376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4773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7" name="Text 35"/>
          <p:cNvSpPr/>
          <p:nvPr/>
        </p:nvSpPr>
        <p:spPr>
          <a:xfrm>
            <a:off x="104487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158865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1156007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269995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1" name="Text 39"/>
          <p:cNvSpPr/>
          <p:nvPr/>
        </p:nvSpPr>
        <p:spPr>
          <a:xfrm>
            <a:off x="1267137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38111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3" name="Text 41"/>
          <p:cNvSpPr/>
          <p:nvPr/>
        </p:nvSpPr>
        <p:spPr>
          <a:xfrm>
            <a:off x="137825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4922401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5" name="Text 43"/>
          <p:cNvSpPr/>
          <p:nvPr/>
        </p:nvSpPr>
        <p:spPr>
          <a:xfrm>
            <a:off x="14893826" y="4059436"/>
            <a:ext cx="117797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16033700" y="3926086"/>
            <a:ext cx="9525" cy="49530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7" name="Text 45"/>
          <p:cNvSpPr/>
          <p:nvPr/>
        </p:nvSpPr>
        <p:spPr>
          <a:xfrm>
            <a:off x="16005125" y="4059436"/>
            <a:ext cx="117782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kern="0" spc="84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143000" y="5392787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9" name="Text 47"/>
          <p:cNvSpPr/>
          <p:nvPr/>
        </p:nvSpPr>
        <p:spPr>
          <a:xfrm>
            <a:off x="1295400" y="4630936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1295400" y="4951809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{M1–M2}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3810000" y="5392787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Shape 50"/>
          <p:cNvSpPr/>
          <p:nvPr/>
        </p:nvSpPr>
        <p:spPr>
          <a:xfrm>
            <a:off x="3810000" y="4783187"/>
            <a:ext cx="2222450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3" name="Text 51"/>
          <p:cNvSpPr/>
          <p:nvPr/>
        </p:nvSpPr>
        <p:spPr>
          <a:xfrm>
            <a:off x="3924300" y="4783187"/>
            <a:ext cx="20700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1}</a:t>
            </a:r>
            <a:endParaRPr lang="en-US" sz="975" dirty="0"/>
          </a:p>
        </p:txBody>
      </p:sp>
      <p:sp>
        <p:nvSpPr>
          <p:cNvPr id="54" name="Shape 52"/>
          <p:cNvSpPr/>
          <p:nvPr/>
        </p:nvSpPr>
        <p:spPr>
          <a:xfrm>
            <a:off x="1143000" y="6373713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5" name="Text 53"/>
          <p:cNvSpPr/>
          <p:nvPr/>
        </p:nvSpPr>
        <p:spPr>
          <a:xfrm>
            <a:off x="1295400" y="5611862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1295400" y="5932736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{M2–M5}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3810000" y="6373713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8" name="Shape 56"/>
          <p:cNvSpPr/>
          <p:nvPr/>
        </p:nvSpPr>
        <p:spPr>
          <a:xfrm>
            <a:off x="4921151" y="5764113"/>
            <a:ext cx="4445050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9" name="Text 57"/>
          <p:cNvSpPr/>
          <p:nvPr/>
        </p:nvSpPr>
        <p:spPr>
          <a:xfrm>
            <a:off x="5035451" y="5764113"/>
            <a:ext cx="43498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2}</a:t>
            </a:r>
            <a:endParaRPr lang="en-US" sz="975" dirty="0"/>
          </a:p>
        </p:txBody>
      </p:sp>
      <p:sp>
        <p:nvSpPr>
          <p:cNvPr id="60" name="Shape 58"/>
          <p:cNvSpPr/>
          <p:nvPr/>
        </p:nvSpPr>
        <p:spPr>
          <a:xfrm>
            <a:off x="1143000" y="7354639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1" name="Text 59"/>
          <p:cNvSpPr/>
          <p:nvPr/>
        </p:nvSpPr>
        <p:spPr>
          <a:xfrm>
            <a:off x="1295400" y="6592788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295400" y="6913662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{M5–M9}</a:t>
            </a:r>
            <a:endParaRPr lang="en-US" sz="1350" dirty="0"/>
          </a:p>
        </p:txBody>
      </p:sp>
      <p:sp>
        <p:nvSpPr>
          <p:cNvPr id="63" name="Shape 61"/>
          <p:cNvSpPr/>
          <p:nvPr/>
        </p:nvSpPr>
        <p:spPr>
          <a:xfrm>
            <a:off x="3810000" y="7354639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4" name="Shape 62"/>
          <p:cNvSpPr/>
          <p:nvPr/>
        </p:nvSpPr>
        <p:spPr>
          <a:xfrm>
            <a:off x="8254901" y="6745039"/>
            <a:ext cx="5556349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5" name="Text 63"/>
          <p:cNvSpPr/>
          <p:nvPr/>
        </p:nvSpPr>
        <p:spPr>
          <a:xfrm>
            <a:off x="8369201" y="6745039"/>
            <a:ext cx="54944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3}</a:t>
            </a:r>
            <a:endParaRPr lang="en-US" sz="975" dirty="0"/>
          </a:p>
        </p:txBody>
      </p:sp>
      <p:sp>
        <p:nvSpPr>
          <p:cNvPr id="66" name="Shape 64"/>
          <p:cNvSpPr/>
          <p:nvPr/>
        </p:nvSpPr>
        <p:spPr>
          <a:xfrm>
            <a:off x="1143000" y="8335566"/>
            <a:ext cx="2667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295400" y="7573714"/>
            <a:ext cx="2438400" cy="32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295400" y="7894588"/>
            <a:ext cx="2438400" cy="2695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{M9–M12}</a:t>
            </a:r>
            <a:endParaRPr lang="en-US" sz="1350" dirty="0"/>
          </a:p>
        </p:txBody>
      </p:sp>
      <p:sp>
        <p:nvSpPr>
          <p:cNvPr id="69" name="Shape 67"/>
          <p:cNvSpPr/>
          <p:nvPr/>
        </p:nvSpPr>
        <p:spPr>
          <a:xfrm>
            <a:off x="3810000" y="8335566"/>
            <a:ext cx="13335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0" name="Shape 68"/>
          <p:cNvSpPr/>
          <p:nvPr/>
        </p:nvSpPr>
        <p:spPr>
          <a:xfrm>
            <a:off x="12699950" y="7725966"/>
            <a:ext cx="4444901" cy="247650"/>
          </a:xfrm>
          <a:prstGeom prst="roundRect">
            <a:avLst>
              <a:gd name="adj" fmla="val 7692"/>
            </a:avLst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1" name="Text 69"/>
          <p:cNvSpPr/>
          <p:nvPr/>
        </p:nvSpPr>
        <p:spPr>
          <a:xfrm>
            <a:off x="12814250" y="7725966"/>
            <a:ext cx="434964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975" kern="0" spc="39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{Fas 4}</a:t>
            </a:r>
            <a:endParaRPr lang="en-US" sz="975" dirty="0"/>
          </a:p>
        </p:txBody>
      </p:sp>
      <p:sp>
        <p:nvSpPr>
          <p:cNvPr id="72" name="Shape 70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3" name="Text 71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17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GENOMFÖRANDE — FAS 1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1" y="1440210"/>
            <a:ext cx="31242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1" y="1792635"/>
            <a:ext cx="84201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1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{M1–M2}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49761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{Aktiviteter}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49761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{Leveranser}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45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1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3467100" y="9201150"/>
            <a:ext cx="2279600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17</a:t>
            </a:r>
            <a:endParaRPr lang="en-US" sz="1350" dirty="0"/>
          </a:p>
        </p:txBody>
      </p:sp>
      <p:sp>
        <p:nvSpPr>
          <p:cNvPr id="11" name="Shape 17">
            <a:extLst>
              <a:ext uri="{FF2B5EF4-FFF2-40B4-BE49-F238E27FC236}">
                <a16:creationId xmlns:a16="http://schemas.microsoft.com/office/drawing/2014/main" id="{0B4BFD28-7CC4-7EB4-5C0E-924A9AC7BA44}"/>
              </a:ext>
            </a:extLst>
          </p:cNvPr>
          <p:cNvSpPr/>
          <p:nvPr/>
        </p:nvSpPr>
        <p:spPr>
          <a:xfrm>
            <a:off x="12115801" y="280988"/>
            <a:ext cx="5097779" cy="871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/>
          <a:p>
            <a:r>
              <a:rPr lang="sv-SE" dirty="0"/>
              <a:t>{Mål}</a:t>
            </a: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5CDACDC8-417D-B9E3-4861-E7CEE7BFA914}"/>
              </a:ext>
            </a:extLst>
          </p:cNvPr>
          <p:cNvSpPr/>
          <p:nvPr/>
        </p:nvSpPr>
        <p:spPr>
          <a:xfrm>
            <a:off x="1333500" y="7839075"/>
            <a:ext cx="10475976" cy="8001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{Risker}</a:t>
            </a:r>
            <a:endParaRPr lang="en-US" sz="1650" dirty="0"/>
          </a:p>
        </p:txBody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BCDE78B3-D30A-46C7-CF5F-6E897FE65AB8}"/>
              </a:ext>
            </a:extLst>
          </p:cNvPr>
          <p:cNvSpPr/>
          <p:nvPr/>
        </p:nvSpPr>
        <p:spPr>
          <a:xfrm>
            <a:off x="12150090" y="1322548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GENOMFÖRANDE — FAS 2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2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2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{M2–M5}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{Go/no-go till nästa fas}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4606826" y="9201150"/>
            <a:ext cx="4559201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17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GENOMFÖRANDE — FAS 3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3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3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{M5–M9}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{Go/no-go till nästa fas}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3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8026301" y="9201150"/>
            <a:ext cx="5699075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17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GENOMFÖRANDE — FAS 4 AV 4</a:t>
            </a:r>
            <a:endParaRPr lang="en-US" sz="1350" dirty="0"/>
          </a:p>
        </p:txBody>
      </p:sp>
      <p:sp>
        <p:nvSpPr>
          <p:cNvPr id="3" name="Shape 1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1143000" y="1266825"/>
            <a:ext cx="2171700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3500" kern="0" spc="-540" dirty="0">
                <a:solidFill>
                  <a:srgbClr val="2B5F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500" dirty="0"/>
          </a:p>
        </p:txBody>
      </p:sp>
      <p:sp>
        <p:nvSpPr>
          <p:cNvPr id="5" name="Text 3"/>
          <p:cNvSpPr/>
          <p:nvPr/>
        </p:nvSpPr>
        <p:spPr>
          <a:xfrm>
            <a:off x="3695700" y="1440210"/>
            <a:ext cx="1385277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 4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95700" y="1792635"/>
            <a:ext cx="13852779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kern="0" spc="-84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{Fas 4 — namn}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95700" y="2447925"/>
            <a:ext cx="138527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33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{M9–M12} · {Antal veckor}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430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1430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AKTIVITETER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335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1}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335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2}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335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3}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33500" y="5594896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{Aktivitet 4}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6629400" y="3457575"/>
            <a:ext cx="50292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6629400" y="3600450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LEVERANSER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19900" y="420052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1 — slutleverans}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819900" y="466531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2 — överlämning}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819900" y="5130105"/>
            <a:ext cx="4989576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{Leverans 3 — slutrapport}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2115800" y="3324225"/>
            <a:ext cx="5029200" cy="5334000"/>
          </a:xfrm>
          <a:prstGeom prst="rect">
            <a:avLst/>
          </a:prstGeom>
          <a:solidFill>
            <a:srgbClr val="E8DCC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12344400" y="3457575"/>
            <a:ext cx="4572000" cy="9525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2344400" y="3600450"/>
            <a:ext cx="47091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BESLUT I STYRGRUPP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2534900" y="420052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1 — godkännande av slutleverans}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2534900" y="466531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{Beslut 2 — förvaltningsöverlämning}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2534900" y="5130105"/>
            <a:ext cx="451866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{Avslut av uppdrag}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3000" y="9001125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1143000" y="9277350"/>
            <a:ext cx="2171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kern="0" spc="10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TIDSLINJE · FAS 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67100" y="9201150"/>
            <a:ext cx="13677900" cy="133350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12585650" y="9201150"/>
            <a:ext cx="4559201" cy="133350"/>
          </a:xfrm>
          <a:prstGeom prst="rect">
            <a:avLst/>
          </a:prstGeom>
          <a:solidFill>
            <a:srgbClr val="2B5F5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34671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35052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</a:t>
            </a:r>
            <a:endParaRPr lang="en-US" sz="825" dirty="0"/>
          </a:p>
        </p:txBody>
      </p:sp>
      <p:sp>
        <p:nvSpPr>
          <p:cNvPr id="31" name="Shape 29"/>
          <p:cNvSpPr/>
          <p:nvPr/>
        </p:nvSpPr>
        <p:spPr>
          <a:xfrm>
            <a:off x="46068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46449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M2</a:t>
            </a:r>
            <a:endParaRPr lang="en-US" sz="825" dirty="0"/>
          </a:p>
        </p:txBody>
      </p:sp>
      <p:sp>
        <p:nvSpPr>
          <p:cNvPr id="33" name="Shape 31"/>
          <p:cNvSpPr/>
          <p:nvPr/>
        </p:nvSpPr>
        <p:spPr>
          <a:xfrm>
            <a:off x="574670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578480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M3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688642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92452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M4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80263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0644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M5</a:t>
            </a:r>
            <a:endParaRPr lang="en-US" sz="825" dirty="0"/>
          </a:p>
        </p:txBody>
      </p:sp>
      <p:sp>
        <p:nvSpPr>
          <p:cNvPr id="39" name="Shape 37"/>
          <p:cNvSpPr/>
          <p:nvPr/>
        </p:nvSpPr>
        <p:spPr>
          <a:xfrm>
            <a:off x="916617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920427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M6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1030590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1034400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M7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114457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114838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M8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12585650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2623750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M9</a:t>
            </a:r>
            <a:endParaRPr lang="en-US" sz="825" dirty="0"/>
          </a:p>
        </p:txBody>
      </p:sp>
      <p:sp>
        <p:nvSpPr>
          <p:cNvPr id="47" name="Shape 45"/>
          <p:cNvSpPr/>
          <p:nvPr/>
        </p:nvSpPr>
        <p:spPr>
          <a:xfrm>
            <a:off x="13725376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8" name="Text 46"/>
          <p:cNvSpPr/>
          <p:nvPr/>
        </p:nvSpPr>
        <p:spPr>
          <a:xfrm>
            <a:off x="13763476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M10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14865251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4903351" y="9391650"/>
            <a:ext cx="11779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M11</a:t>
            </a:r>
            <a:endParaRPr lang="en-US" sz="825" dirty="0"/>
          </a:p>
        </p:txBody>
      </p:sp>
      <p:sp>
        <p:nvSpPr>
          <p:cNvPr id="51" name="Shape 49"/>
          <p:cNvSpPr/>
          <p:nvPr/>
        </p:nvSpPr>
        <p:spPr>
          <a:xfrm>
            <a:off x="16005125" y="9391650"/>
            <a:ext cx="9525" cy="133350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2" name="Text 50"/>
          <p:cNvSpPr/>
          <p:nvPr/>
        </p:nvSpPr>
        <p:spPr>
          <a:xfrm>
            <a:off x="16043225" y="9391650"/>
            <a:ext cx="117782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825" kern="0" spc="41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M12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4" name="Text 5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17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KVALITETSSÄKRING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Kvalitetssäkring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QA-PROCESS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30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{QA-process}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6294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66294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ANSVARIG KVALITETSLEDARE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294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{Kvalitetsledare}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2115800" y="2438400"/>
            <a:ext cx="5029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2115800" y="2619375"/>
            <a:ext cx="518007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 </a:t>
            </a: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ESKALERING OCH RAPPORTERING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115800" y="3162300"/>
            <a:ext cx="5180076" cy="46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{Eskalering}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43000" y="7890570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143000" y="8204895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AVSTÄMNINGSPUNKTER MOT BESTÄLLARE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14300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132397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23975" y="9086850"/>
            <a:ext cx="342349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1 — tidpunkt och innehåll}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0065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538162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2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8162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2}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25830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943927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3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43927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3}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3315950" y="8614470"/>
            <a:ext cx="3829050" cy="910530"/>
          </a:xfrm>
          <a:prstGeom prst="rect">
            <a:avLst/>
          </a:prstGeom>
          <a:ln w="9525">
            <a:solidFill>
              <a:srgbClr val="CFC7B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13496925" y="8814495"/>
            <a:ext cx="3571113" cy="224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kern="0" spc="105" dirty="0">
                <a:solidFill>
                  <a:srgbClr val="2B5F5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 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3496925" y="9086850"/>
            <a:ext cx="13541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{Avstämning 4}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17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TEAM, OMFATTNING OCH PRIS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Team, omfattning och pris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5063"/>
            <a:ext cx="323894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1143000" y="2987873"/>
            <a:ext cx="323894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1143000" y="2405063"/>
            <a:ext cx="323894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33500" y="2586038"/>
            <a:ext cx="2955115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KONSULT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1946" y="2405063"/>
            <a:ext cx="3191024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4381946" y="2987873"/>
            <a:ext cx="3191024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381946" y="2405063"/>
            <a:ext cx="3191024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572446" y="2586038"/>
            <a:ext cx="2905755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72970" y="2405063"/>
            <a:ext cx="2392710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7572970" y="2987873"/>
            <a:ext cx="239271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7572970" y="2405063"/>
            <a:ext cx="239271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7763470" y="2586038"/>
            <a:ext cx="2087910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OMFATTNING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965680" y="2405063"/>
            <a:ext cx="218107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9965680" y="2987873"/>
            <a:ext cx="218107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9965680" y="2405063"/>
            <a:ext cx="218107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156180" y="2586038"/>
            <a:ext cx="1876276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TIMPRIS (SEK)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2146756" y="2405063"/>
            <a:ext cx="2227808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2146756" y="2987873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2146756" y="2405063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2337256" y="2586038"/>
            <a:ext cx="1923008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TIMMAR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4374564" y="2405063"/>
            <a:ext cx="2770436" cy="5923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Shape 23"/>
          <p:cNvSpPr/>
          <p:nvPr/>
        </p:nvSpPr>
        <p:spPr>
          <a:xfrm>
            <a:off x="14374564" y="2987873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14374564" y="2405063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14565064" y="2586038"/>
            <a:ext cx="2472549" cy="268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TOTAL VOLYM (SEK)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143000" y="3633639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1333500" y="3168848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1 — namn}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4572446" y="3168848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1}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63470" y="3168848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1 %}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0156180" y="3168848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1}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2337256" y="3168848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1}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4565064" y="3168848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1}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143000" y="4279404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1333500" y="3814614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2 — namn}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4572446" y="3814614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2}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763470" y="3814614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2 %}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156180" y="3814614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2}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337256" y="3814614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2}</a:t>
            </a:r>
            <a:endParaRPr lang="en-US" sz="1650" dirty="0"/>
          </a:p>
        </p:txBody>
      </p:sp>
      <p:sp>
        <p:nvSpPr>
          <p:cNvPr id="41" name="Text 39"/>
          <p:cNvSpPr/>
          <p:nvPr/>
        </p:nvSpPr>
        <p:spPr>
          <a:xfrm>
            <a:off x="14565064" y="3814614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2}</a:t>
            </a:r>
            <a:endParaRPr lang="en-US" sz="1650" dirty="0"/>
          </a:p>
        </p:txBody>
      </p:sp>
      <p:sp>
        <p:nvSpPr>
          <p:cNvPr id="42" name="Shape 40"/>
          <p:cNvSpPr/>
          <p:nvPr/>
        </p:nvSpPr>
        <p:spPr>
          <a:xfrm>
            <a:off x="1143000" y="4925169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3" name="Text 41"/>
          <p:cNvSpPr/>
          <p:nvPr/>
        </p:nvSpPr>
        <p:spPr>
          <a:xfrm>
            <a:off x="1333500" y="4460379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3 — namn}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4572446" y="4460379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3}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7763470" y="4460379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3 %}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0156180" y="4460379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3}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12337256" y="4460379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3}</a:t>
            </a:r>
            <a:endParaRPr lang="en-US" sz="1650" dirty="0"/>
          </a:p>
        </p:txBody>
      </p:sp>
      <p:sp>
        <p:nvSpPr>
          <p:cNvPr id="48" name="Text 46"/>
          <p:cNvSpPr/>
          <p:nvPr/>
        </p:nvSpPr>
        <p:spPr>
          <a:xfrm>
            <a:off x="14565064" y="4460379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3}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43000" y="5570934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0" name="Text 48"/>
          <p:cNvSpPr/>
          <p:nvPr/>
        </p:nvSpPr>
        <p:spPr>
          <a:xfrm>
            <a:off x="1333500" y="5106144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4 — namn}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4572446" y="5106144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4}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7763470" y="5106144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4 %}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10156180" y="5106144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4}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12337256" y="5106144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4}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14565064" y="5106144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4}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143000" y="62167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7" name="Text 55"/>
          <p:cNvSpPr/>
          <p:nvPr/>
        </p:nvSpPr>
        <p:spPr>
          <a:xfrm>
            <a:off x="1333500" y="5751909"/>
            <a:ext cx="295511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{Konsult 5 — namn}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4572446" y="5751909"/>
            <a:ext cx="2905755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 5}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7763470" y="5751909"/>
            <a:ext cx="2087910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{Omfattning 5 %}</a:t>
            </a:r>
            <a:endParaRPr lang="en-US" sz="1650" dirty="0"/>
          </a:p>
        </p:txBody>
      </p:sp>
      <p:sp>
        <p:nvSpPr>
          <p:cNvPr id="60" name="Text 58"/>
          <p:cNvSpPr/>
          <p:nvPr/>
        </p:nvSpPr>
        <p:spPr>
          <a:xfrm>
            <a:off x="10156180" y="5751909"/>
            <a:ext cx="1876276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{Timpris 5}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12337256" y="5751909"/>
            <a:ext cx="1923008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{Timmar 5}</a:t>
            </a:r>
            <a:endParaRPr lang="en-US" sz="1650" dirty="0"/>
          </a:p>
        </p:txBody>
      </p:sp>
      <p:sp>
        <p:nvSpPr>
          <p:cNvPr id="62" name="Text 60"/>
          <p:cNvSpPr/>
          <p:nvPr/>
        </p:nvSpPr>
        <p:spPr>
          <a:xfrm>
            <a:off x="14565064" y="5751909"/>
            <a:ext cx="2472549" cy="340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{Total 5}</a:t>
            </a:r>
            <a:endParaRPr lang="en-US" sz="1650" dirty="0"/>
          </a:p>
        </p:txBody>
      </p:sp>
      <p:sp>
        <p:nvSpPr>
          <p:cNvPr id="63" name="Shape 61"/>
          <p:cNvSpPr/>
          <p:nvPr/>
        </p:nvSpPr>
        <p:spPr>
          <a:xfrm>
            <a:off x="1143000" y="6881515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4" name="Shape 62"/>
          <p:cNvSpPr/>
          <p:nvPr/>
        </p:nvSpPr>
        <p:spPr>
          <a:xfrm>
            <a:off x="1143000" y="6226225"/>
            <a:ext cx="1100375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5" name="Text 63"/>
          <p:cNvSpPr/>
          <p:nvPr/>
        </p:nvSpPr>
        <p:spPr>
          <a:xfrm>
            <a:off x="1333500" y="6426250"/>
            <a:ext cx="1095286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 — anbudspris exkl. moms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2146756" y="6226225"/>
            <a:ext cx="2227808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2337256" y="6426250"/>
            <a:ext cx="192300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{Summa timmar}</a:t>
            </a:r>
            <a:endParaRPr lang="en-US" sz="1650" dirty="0"/>
          </a:p>
        </p:txBody>
      </p:sp>
      <p:sp>
        <p:nvSpPr>
          <p:cNvPr id="68" name="Shape 66"/>
          <p:cNvSpPr/>
          <p:nvPr/>
        </p:nvSpPr>
        <p:spPr>
          <a:xfrm>
            <a:off x="14374564" y="6226225"/>
            <a:ext cx="2770436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9" name="Text 67"/>
          <p:cNvSpPr/>
          <p:nvPr/>
        </p:nvSpPr>
        <p:spPr>
          <a:xfrm>
            <a:off x="14565064" y="6426250"/>
            <a:ext cx="2472549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b="1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{Anbudspris totalt}</a:t>
            </a:r>
            <a:endParaRPr lang="en-US" sz="1650" dirty="0"/>
          </a:p>
        </p:txBody>
      </p:sp>
      <p:sp>
        <p:nvSpPr>
          <p:cNvPr id="70" name="Text 68"/>
          <p:cNvSpPr/>
          <p:nvPr/>
        </p:nvSpPr>
        <p:spPr>
          <a:xfrm>
            <a:off x="1143000" y="7162502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Samtliga priser anges i SEK exklusive moms. Omfattning anger del av heltid under uppdragstiden.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2" name="Text 70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17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UPPFYLLELSE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Uppfyllelse av ska-krav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2405063"/>
            <a:ext cx="1280071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1143000" y="3227784"/>
            <a:ext cx="1280071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Shape 4"/>
          <p:cNvSpPr/>
          <p:nvPr/>
        </p:nvSpPr>
        <p:spPr>
          <a:xfrm>
            <a:off x="1143000" y="2405063"/>
            <a:ext cx="1280071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333500" y="2586038"/>
            <a:ext cx="975271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423071" y="2405063"/>
            <a:ext cx="512058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2423071" y="3227784"/>
            <a:ext cx="512058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2423071" y="2405063"/>
            <a:ext cx="512058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2613571" y="2586038"/>
            <a:ext cx="4893198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SKA-KRAV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3651" y="2405063"/>
            <a:ext cx="160020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7543651" y="3227784"/>
            <a:ext cx="1600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7543651" y="2405063"/>
            <a:ext cx="16002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7734151" y="2586038"/>
            <a:ext cx="1295400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UPPFYLLT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3851" y="2405063"/>
            <a:ext cx="4800600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9143851" y="3227784"/>
            <a:ext cx="48006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9143851" y="2405063"/>
            <a:ext cx="48006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9334351" y="2586038"/>
            <a:ext cx="4563618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HUR KRAVET UPPFYLLS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944451" y="2405063"/>
            <a:ext cx="3200549" cy="8322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3944451" y="3227784"/>
            <a:ext cx="3200549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3944451" y="2405063"/>
            <a:ext cx="3200549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4134951" y="2586038"/>
            <a:ext cx="2915565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REFERENS (CV / ERFARENHET)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43000" y="416689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333500" y="3408759"/>
            <a:ext cx="975271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2613571" y="3408759"/>
            <a:ext cx="4893198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1 — formulering enligt upphandlingsunderlag}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734151" y="3423047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7848451" y="3461147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34351" y="3408759"/>
            <a:ext cx="4563618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1 uppfylls — konkret beskrivning}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4134951" y="3408759"/>
            <a:ext cx="2915565" cy="634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1}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3000" y="481831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1333500" y="4347865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613571" y="4347865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2}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7734151" y="4362152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7848451" y="4400252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334351" y="4347865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2 uppfylls}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4134951" y="4347865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2}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143000" y="546973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1333500" y="4999286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2613571" y="4999286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3}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734151" y="5013573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7848451" y="5051673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334351" y="4999286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3 uppfylls}</a:t>
            </a:r>
            <a:endParaRPr lang="en-US" sz="1650" dirty="0"/>
          </a:p>
        </p:txBody>
      </p:sp>
      <p:sp>
        <p:nvSpPr>
          <p:cNvPr id="44" name="Text 42"/>
          <p:cNvSpPr/>
          <p:nvPr/>
        </p:nvSpPr>
        <p:spPr>
          <a:xfrm>
            <a:off x="14134951" y="4999286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3}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143000" y="6121152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6" name="Text 44"/>
          <p:cNvSpPr/>
          <p:nvPr/>
        </p:nvSpPr>
        <p:spPr>
          <a:xfrm>
            <a:off x="1333500" y="5650706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47" name="Text 45"/>
          <p:cNvSpPr/>
          <p:nvPr/>
        </p:nvSpPr>
        <p:spPr>
          <a:xfrm>
            <a:off x="2613571" y="5650706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4}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7734151" y="5664994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9" name="Text 47"/>
          <p:cNvSpPr/>
          <p:nvPr/>
        </p:nvSpPr>
        <p:spPr>
          <a:xfrm>
            <a:off x="7848451" y="5703094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334351" y="5650706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4 uppfylls}</a:t>
            </a:r>
            <a:endParaRPr lang="en-US" sz="1650" dirty="0"/>
          </a:p>
        </p:txBody>
      </p:sp>
      <p:sp>
        <p:nvSpPr>
          <p:cNvPr id="51" name="Text 49"/>
          <p:cNvSpPr/>
          <p:nvPr/>
        </p:nvSpPr>
        <p:spPr>
          <a:xfrm>
            <a:off x="14134951" y="5650706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4}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143000" y="6772573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3" name="Text 51"/>
          <p:cNvSpPr/>
          <p:nvPr/>
        </p:nvSpPr>
        <p:spPr>
          <a:xfrm>
            <a:off x="1333500" y="6302127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54" name="Text 52"/>
          <p:cNvSpPr/>
          <p:nvPr/>
        </p:nvSpPr>
        <p:spPr>
          <a:xfrm>
            <a:off x="2613571" y="6302127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5}</a:t>
            </a:r>
            <a:endParaRPr lang="en-US" sz="1650" dirty="0"/>
          </a:p>
        </p:txBody>
      </p:sp>
      <p:sp>
        <p:nvSpPr>
          <p:cNvPr id="55" name="Shape 53"/>
          <p:cNvSpPr/>
          <p:nvPr/>
        </p:nvSpPr>
        <p:spPr>
          <a:xfrm>
            <a:off x="7734151" y="6316414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6" name="Text 54"/>
          <p:cNvSpPr/>
          <p:nvPr/>
        </p:nvSpPr>
        <p:spPr>
          <a:xfrm>
            <a:off x="7848451" y="6354514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334351" y="6302127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5 uppfylls}</a:t>
            </a:r>
            <a:endParaRPr lang="en-US" sz="1650" dirty="0"/>
          </a:p>
        </p:txBody>
      </p:sp>
      <p:sp>
        <p:nvSpPr>
          <p:cNvPr id="58" name="Text 56"/>
          <p:cNvSpPr/>
          <p:nvPr/>
        </p:nvSpPr>
        <p:spPr>
          <a:xfrm>
            <a:off x="14134951" y="6302127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5}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143000" y="7423993"/>
            <a:ext cx="16002000" cy="9525"/>
          </a:xfrm>
          <a:prstGeom prst="rect">
            <a:avLst/>
          </a:prstGeom>
          <a:solidFill>
            <a:srgbClr val="CFC7B8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0" name="Text 58"/>
          <p:cNvSpPr/>
          <p:nvPr/>
        </p:nvSpPr>
        <p:spPr>
          <a:xfrm>
            <a:off x="1333500" y="6953548"/>
            <a:ext cx="975271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61" name="Text 59"/>
          <p:cNvSpPr/>
          <p:nvPr/>
        </p:nvSpPr>
        <p:spPr>
          <a:xfrm>
            <a:off x="2613571" y="6953548"/>
            <a:ext cx="489319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{Ska-krav 6}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7734151" y="6967835"/>
            <a:ext cx="435918" cy="289471"/>
          </a:xfrm>
          <a:prstGeom prst="roundRect">
            <a:avLst>
              <a:gd name="adj" fmla="val 6581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3" name="Text 61"/>
          <p:cNvSpPr/>
          <p:nvPr/>
        </p:nvSpPr>
        <p:spPr>
          <a:xfrm>
            <a:off x="7848451" y="7005935"/>
            <a:ext cx="283518" cy="251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334351" y="6953548"/>
            <a:ext cx="4563618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{Hur krav 6 uppfylls}</a:t>
            </a:r>
            <a:endParaRPr lang="en-US" sz="1650" dirty="0"/>
          </a:p>
        </p:txBody>
      </p:sp>
      <p:sp>
        <p:nvSpPr>
          <p:cNvPr id="65" name="Text 63"/>
          <p:cNvSpPr/>
          <p:nvPr/>
        </p:nvSpPr>
        <p:spPr>
          <a:xfrm>
            <a:off x="14134951" y="6953548"/>
            <a:ext cx="291556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{CV/ref 6}</a:t>
            </a:r>
            <a:endParaRPr lang="en-US" sz="1650" dirty="0"/>
          </a:p>
        </p:txBody>
      </p:sp>
      <p:sp>
        <p:nvSpPr>
          <p:cNvPr id="66" name="Shape 64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7" name="Text 65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68" name="Text 66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17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REFERENS 01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1 — kundnamn}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1 — kort kontextrad, t.ex. ”Digitalisering av ärendehantering”}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Vänster"/>
          <p:cNvSpPr/>
          <p:nvPr/>
        </p:nvSpPr>
        <p:spPr>
          <a:xfrm>
            <a:off x="1143000" y="3305175"/>
            <a:ext cx="3531870" cy="60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{Vänster}</a:t>
            </a:r>
            <a:endParaRPr lang="en-US" sz="1500" dirty="0"/>
          </a:p>
        </p:txBody>
      </p:sp>
      <p:sp>
        <p:nvSpPr>
          <p:cNvPr id="14" name="Text Höger"/>
          <p:cNvSpPr/>
          <p:nvPr/>
        </p:nvSpPr>
        <p:spPr>
          <a:xfrm>
            <a:off x="5143500" y="3305175"/>
            <a:ext cx="12361545" cy="600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kern="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{Höger}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17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REFERENS 02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2 — kundnamn}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{Referens 2 — kort kontextrad}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43000" y="29908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1143000" y="3305175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3552825"/>
            <a:ext cx="353187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{Kund — organisation}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4089946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PERIOD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4337596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{Start MM/ÅÅÅÅ} — {Slut MM/ÅÅÅÅ}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183237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5430887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{Omfattning — antal timmar, konsulter och total volym}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276529"/>
            <a:ext cx="3531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KONTAKTPERSON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6524179"/>
            <a:ext cx="353187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{Namn} </a:t>
            </a: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{Titel} · {Telefon} · {E-post}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43500" y="3305175"/>
            <a:ext cx="12361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ROLL OCH LEVERANS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3500" y="3590925"/>
            <a:ext cx="1236154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{Roll/leverans}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5143500" y="4254698"/>
            <a:ext cx="1236154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43500" y="4540448"/>
            <a:ext cx="12361545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{Resultat}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17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ANBUDSSEKRETESS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Anbudssekretess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143000" y="2095500"/>
            <a:ext cx="164820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000" kern="0" spc="-3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Begäran om sekretess enligt offentlighets- och sekretesslagen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43000" y="2914650"/>
            <a:ext cx="156972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{Bolagsnamn} </a:t>
            </a: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begär härmed att följande uppgifter i anbudet omfattas av sekretess enligt </a:t>
            </a:r>
            <a:r>
              <a:rPr lang="en-US" sz="18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{OSL kap X §Y} </a:t>
            </a: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Ett offentliggörande av nedanstående uppgifter bedöms medföra sådan skada att uppgifterna inte bör lämnas ut.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43000" y="4535686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7" name="Shape 5"/>
          <p:cNvSpPr/>
          <p:nvPr/>
        </p:nvSpPr>
        <p:spPr>
          <a:xfrm>
            <a:off x="1143000" y="3981450"/>
            <a:ext cx="16002000" cy="95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1143000" y="4143375"/>
            <a:ext cx="1219200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7000" y="4143375"/>
            <a:ext cx="725995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OMFATTAR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096500" y="4143375"/>
            <a:ext cx="7259955" cy="2780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kern="0" spc="135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MOTIVERING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143000" y="553581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1143000" y="4773811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1}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67000" y="477381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 av sekretess}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96500" y="477381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{Varför — skadan som uppstår vid utlämnande}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143000" y="6535936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143000" y="5773936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2}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67000" y="577393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0096500" y="577393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143000" y="7536061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1143000" y="6774061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3}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67000" y="677406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096500" y="6774061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143000" y="8536186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1143000" y="7774186"/>
            <a:ext cx="12192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{Slide/Bilaga 4}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667000" y="777418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{Uppgift som omfattas}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0096500" y="7774186"/>
            <a:ext cx="725995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{Motivering}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 / 17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64820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89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· CERTIFIERINGAR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143000" y="1381125"/>
            <a:ext cx="1648206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9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Certifieringar och kvalitetsmärkningar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143000" y="3790950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143000" y="2552700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9001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3000" y="2933700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Kvalitetsledningssystem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3333750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8470" y="3333750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45509" y="3333750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27688" y="3333750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72600" y="3790950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9372600" y="2552700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27001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72600" y="2933700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Ledningssystem för informationssäkerhet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372600" y="3333750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48070" y="3333750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775109" y="3333750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57288" y="3333750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43000" y="5305425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143000" y="4067175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 14001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43000" y="4448175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Miljöledningssystem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4848225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8470" y="4848225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45509" y="4848225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27688" y="4848225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372600" y="5305425"/>
            <a:ext cx="77724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9372600" y="4067175"/>
            <a:ext cx="800557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{Övrig relevant certifiering}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372600" y="4448175"/>
            <a:ext cx="80055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{Beskrivning}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72600" y="4848225"/>
            <a:ext cx="13564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CERTIFIKATNR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748070" y="4848225"/>
            <a:ext cx="172223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{Certifikatnummer}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2775109" y="4848225"/>
            <a:ext cx="14631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2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GILTIG T.O.M.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257288" y="4848225"/>
            <a:ext cx="1447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A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{Giltighetstid}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43000" y="5695950"/>
            <a:ext cx="1648206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Kopior av samtliga certifikat bifogas anbudet som separata bilagor.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1143000" y="9486900"/>
            <a:ext cx="16002000" cy="9525"/>
          </a:xfrm>
          <a:prstGeom prst="rect">
            <a:avLst/>
          </a:prstGeom>
          <a:solidFill>
            <a:srgbClr val="E8DFCD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1143000" y="9686925"/>
            <a:ext cx="32311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{Bolagsnamn} </a:t>
            </a:r>
            <a:r>
              <a:rPr lang="en-US" sz="1350" kern="0" spc="27" dirty="0">
                <a:solidFill>
                  <a:srgbClr val="8A8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 </a:t>
            </a: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{Diarienummer}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6400859" y="9686925"/>
            <a:ext cx="8203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27" dirty="0">
                <a:solidFill>
                  <a:srgbClr val="4A4A4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 / 17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1524</Words>
  <Application>Microsoft Office PowerPoint</Application>
  <PresentationFormat>Anpassad</PresentationFormat>
  <Paragraphs>433</Paragraphs>
  <Slides>17</Slides>
  <Notes>17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17</vt:i4>
      </vt:variant>
    </vt:vector>
  </HeadingPairs>
  <TitlesOfParts>
    <vt:vector size="22" baseType="lpstr">
      <vt:lpstr>-apple-system</vt:lpstr>
      <vt:lpstr>Arial</vt:lpstr>
      <vt:lpstr>IBM Plex Mono</vt:lpstr>
      <vt:lpstr>IBM Plex Sans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Stefan Edgren</cp:lastModifiedBy>
  <cp:revision>6</cp:revision>
  <dcterms:created xsi:type="dcterms:W3CDTF">2026-04-19T07:25:46Z</dcterms:created>
  <dcterms:modified xsi:type="dcterms:W3CDTF">2026-04-25T20:06:19Z</dcterms:modified>
</cp:coreProperties>
</file>
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53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FixtureImg" Type="http://schemas.openxmlformats.org/officeDocument/2006/relationships/image" Target="../media/fixture-img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40731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{Bolagsnamn}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762982" y="914400"/>
            <a:ext cx="14582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{Anbudsdatum}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3574554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ANBUD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4117479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4488954"/>
            <a:ext cx="1648206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08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{Kundnamn}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5569446"/>
            <a:ext cx="117729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kern="0" spc="-3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{Upphandlingens namn}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43000" y="8410575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8801100"/>
            <a:ext cx="51002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DIARIENUMMER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9096375"/>
            <a:ext cx="5100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856661" y="8801100"/>
            <a:ext cx="49708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ANBUDSDATUM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6661" y="9096375"/>
            <a:ext cx="49708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{Anbudsdatum}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444710" y="8801100"/>
            <a:ext cx="48412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ANBUDSGIVARE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444710" y="9096375"/>
            <a:ext cx="48412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</a:t>
            </a:r>
            <a:endParaRPr lang="en-US" sz="1650" dirty="0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00" name="FixtureBild"/>
          <p:cNvPicPr/>
          <p:nvPr/>
        </p:nvPicPr>
        <p:blipFill>
          <a:blip r:embed="rIdFixtureImg"/>
          <a:stretch>
            <a:fillRect/>
          </a:stretch>
        </p:blipFill>
        <p:spPr>
          <a:xfrm>
            <a:off x="100000" y="100000"/>
            <a:ext cx="914400" cy="91440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901" name="FixtureBildPlaceholder"/>
          <p:cNvSpPr/>
          <p:nvPr>
            <p:ph type="pic" idx="99"/>
          </p:nvPr>
        </p:nvSpPr>
        <p:spPr>
          <a:xfrm>
            <a:off x="1200000" y="100000"/>
            <a:ext cx="914400" cy="914400"/>
          </a:xfrm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INNEHÅLL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Innehållsförteckning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9155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4583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752600" y="24488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Försättssida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0" y="29155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9525000" y="24583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134600" y="24488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 4 — detalj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37347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1143000" y="32775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752600" y="32679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Innehåll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0" y="37347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9525000" y="32775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134600" y="32679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Kvalitetssäkring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5538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143000" y="40966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52600" y="40871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Vår förståelse — Kunden idag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25000" y="45538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9525000" y="40966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134600" y="40871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Team, omfattning och pris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43000" y="53730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143000" y="49158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752600" y="49062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Vår förståelse — Uppdraget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525000" y="53730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9525000" y="49158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134600" y="49062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Uppfyllelse av ska-krav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3000" y="61921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1143000" y="57349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752600" y="57254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Vår förståelse — Utmaningar och värde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525000" y="61921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9525000" y="57349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134600" y="57254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Referensuppdrag 1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143000" y="70113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1143000" y="65541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752600" y="65445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Genomförande — översikt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525000" y="70113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9525000" y="65541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134600" y="65445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Referensuppdrag 2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143000" y="78304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1" name="Text 39"/>
          <p:cNvSpPr/>
          <p:nvPr/>
        </p:nvSpPr>
        <p:spPr>
          <a:xfrm>
            <a:off x="1143000" y="73732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752600" y="73637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 1 — detalj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9525000" y="78304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9525000" y="73732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0134600" y="73637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Anbudssekretess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143000" y="86496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7" name="Text 45"/>
          <p:cNvSpPr/>
          <p:nvPr/>
        </p:nvSpPr>
        <p:spPr>
          <a:xfrm>
            <a:off x="1143000" y="81924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752600" y="81828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 2 — detalj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9525000" y="86496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9525000" y="81924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0134600" y="81828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Certifieringar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143000" y="90115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752600" y="90020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 3 — detalj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1143000" y="9471996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7" name="Text 55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17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VÅR FÖRSTÅELSE AV UPPDRAGET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Kunden idag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ORGANISATION OCH SYSTEM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3086100"/>
            <a:ext cx="7887843" cy="6030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{Nuläge}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4869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94869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SMÄRTPUNKTER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486900" y="3086100"/>
            <a:ext cx="7887843" cy="6030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—"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{Smärtpunkter}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17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VÅR FÖRSTÅELSE AV UPPDRAGET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Uppdragsbeskrivning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Uppdraget parafraserat — så läser vi RFP:n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3067049"/>
            <a:ext cx="16002000" cy="6067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100" dirty="0"/>
              <a:t>{</a:t>
            </a:r>
            <a:r>
              <a:rPr lang="en-US" sz="2100" dirty="0" err="1"/>
              <a:t>Stycken</a:t>
            </a:r>
            <a:r>
              <a:rPr lang="en-US" sz="2100" dirty="0"/>
              <a:t>}</a:t>
            </a:r>
          </a:p>
        </p:txBody>
      </p:sp>
      <p:sp>
        <p:nvSpPr>
          <p:cNvPr id="6" name="Text 4"/>
          <p:cNvSpPr/>
          <p:nvPr/>
        </p:nvSpPr>
        <p:spPr>
          <a:xfrm>
            <a:off x="1143000" y="405765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504825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17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VÅR FÖRSTÅELSE AV UPPDRAGET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 vi ser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IDENTIFIERADE UTMANINGAR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43000" y="3086099"/>
            <a:ext cx="19050" cy="622800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390650" y="3086099"/>
            <a:ext cx="7640193" cy="6227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</a:t>
            </a:r>
            <a:r>
              <a:rPr lang="en-US" sz="1950" dirty="0" err="1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Utmaningar</a:t>
            </a: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}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4869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94869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VÄRDE UTÖVER SKA-KRAVEN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734550" y="3086100"/>
            <a:ext cx="7640193" cy="622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</a:t>
            </a:r>
            <a:r>
              <a:rPr lang="en-US" sz="1950" dirty="0" err="1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Värden</a:t>
            </a: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}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34550" y="3988891"/>
            <a:ext cx="764019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17</a:t>
            </a:r>
            <a:endParaRPr lang="en-US" sz="135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C3780692-53D5-B853-90B3-1805539B51B9}"/>
              </a:ext>
            </a:extLst>
          </p:cNvPr>
          <p:cNvSpPr/>
          <p:nvPr/>
        </p:nvSpPr>
        <p:spPr>
          <a:xfrm>
            <a:off x="9486900" y="3086100"/>
            <a:ext cx="19050" cy="622800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GENOMFÖRANDE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2287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Genomförande — översikt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430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namn}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924175"/>
            <a:ext cx="3885057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kort beskrivning. Detaljer på nästa slide.}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197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52197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197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namn}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9700" y="2924175"/>
            <a:ext cx="3885057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beskrivning}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964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92964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964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namn}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96400" y="2924175"/>
            <a:ext cx="3885057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beskrivning}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33731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33731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3731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namn}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73100" y="2924175"/>
            <a:ext cx="3885057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beskrivning}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43000" y="8345091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1143000" y="3916561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1143000" y="4411861"/>
            <a:ext cx="2667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295400" y="4059436"/>
            <a:ext cx="24422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81000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378142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2115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489257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245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600387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436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1" name="Text 29"/>
          <p:cNvSpPr/>
          <p:nvPr/>
        </p:nvSpPr>
        <p:spPr>
          <a:xfrm>
            <a:off x="71150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549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3" name="Text 31"/>
          <p:cNvSpPr/>
          <p:nvPr/>
        </p:nvSpPr>
        <p:spPr>
          <a:xfrm>
            <a:off x="82263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6620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933762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47735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7" name="Text 35"/>
          <p:cNvSpPr/>
          <p:nvPr/>
        </p:nvSpPr>
        <p:spPr>
          <a:xfrm>
            <a:off x="1044877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58865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9" name="Text 37"/>
          <p:cNvSpPr/>
          <p:nvPr/>
        </p:nvSpPr>
        <p:spPr>
          <a:xfrm>
            <a:off x="1156007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269995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1" name="Text 39"/>
          <p:cNvSpPr/>
          <p:nvPr/>
        </p:nvSpPr>
        <p:spPr>
          <a:xfrm>
            <a:off x="1267137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38111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3" name="Text 41"/>
          <p:cNvSpPr/>
          <p:nvPr/>
        </p:nvSpPr>
        <p:spPr>
          <a:xfrm>
            <a:off x="137825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49224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5" name="Text 43"/>
          <p:cNvSpPr/>
          <p:nvPr/>
        </p:nvSpPr>
        <p:spPr>
          <a:xfrm>
            <a:off x="148938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603370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7" name="Text 45"/>
          <p:cNvSpPr/>
          <p:nvPr/>
        </p:nvSpPr>
        <p:spPr>
          <a:xfrm>
            <a:off x="1600512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143000" y="5392787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9" name="Text 47"/>
          <p:cNvSpPr/>
          <p:nvPr/>
        </p:nvSpPr>
        <p:spPr>
          <a:xfrm>
            <a:off x="1295400" y="4630936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namn}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295400" y="4951809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{M1–M2}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3810000" y="5392787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Shape 50"/>
          <p:cNvSpPr/>
          <p:nvPr/>
        </p:nvSpPr>
        <p:spPr>
          <a:xfrm>
            <a:off x="3810000" y="4783187"/>
            <a:ext cx="2222450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3" name="Text 51"/>
          <p:cNvSpPr/>
          <p:nvPr/>
        </p:nvSpPr>
        <p:spPr>
          <a:xfrm>
            <a:off x="3924300" y="4783187"/>
            <a:ext cx="2070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1}</a:t>
            </a:r>
            <a:endParaRPr lang="en-US" sz="975" dirty="0"/>
          </a:p>
        </p:txBody>
      </p:sp>
      <p:sp>
        <p:nvSpPr>
          <p:cNvPr id="54" name="Shape 52"/>
          <p:cNvSpPr/>
          <p:nvPr/>
        </p:nvSpPr>
        <p:spPr>
          <a:xfrm>
            <a:off x="1143000" y="6373713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5" name="Text 53"/>
          <p:cNvSpPr/>
          <p:nvPr/>
        </p:nvSpPr>
        <p:spPr>
          <a:xfrm>
            <a:off x="1295400" y="5611862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namn}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295400" y="5932736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{M2–M5}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3810000" y="6373713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8" name="Shape 56"/>
          <p:cNvSpPr/>
          <p:nvPr/>
        </p:nvSpPr>
        <p:spPr>
          <a:xfrm>
            <a:off x="4921151" y="5764113"/>
            <a:ext cx="4445050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9" name="Text 57"/>
          <p:cNvSpPr/>
          <p:nvPr/>
        </p:nvSpPr>
        <p:spPr>
          <a:xfrm>
            <a:off x="5035451" y="5764113"/>
            <a:ext cx="43498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2}</a:t>
            </a:r>
            <a:endParaRPr lang="en-US" sz="975" dirty="0"/>
          </a:p>
        </p:txBody>
      </p:sp>
      <p:sp>
        <p:nvSpPr>
          <p:cNvPr id="60" name="Shape 58"/>
          <p:cNvSpPr/>
          <p:nvPr/>
        </p:nvSpPr>
        <p:spPr>
          <a:xfrm>
            <a:off x="1143000" y="7354639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1" name="Text 59"/>
          <p:cNvSpPr/>
          <p:nvPr/>
        </p:nvSpPr>
        <p:spPr>
          <a:xfrm>
            <a:off x="1295400" y="6592788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namn}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295400" y="6913662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{M5–M9}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3810000" y="7354639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4" name="Shape 62"/>
          <p:cNvSpPr/>
          <p:nvPr/>
        </p:nvSpPr>
        <p:spPr>
          <a:xfrm>
            <a:off x="8254901" y="6745039"/>
            <a:ext cx="5556349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5" name="Text 63"/>
          <p:cNvSpPr/>
          <p:nvPr/>
        </p:nvSpPr>
        <p:spPr>
          <a:xfrm>
            <a:off x="8369201" y="6745039"/>
            <a:ext cx="54944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3}</a:t>
            </a:r>
            <a:endParaRPr lang="en-US" sz="975" dirty="0"/>
          </a:p>
        </p:txBody>
      </p:sp>
      <p:sp>
        <p:nvSpPr>
          <p:cNvPr id="66" name="Shape 64"/>
          <p:cNvSpPr/>
          <p:nvPr/>
        </p:nvSpPr>
        <p:spPr>
          <a:xfrm>
            <a:off x="1143000" y="8335566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7" name="Text 65"/>
          <p:cNvSpPr/>
          <p:nvPr/>
        </p:nvSpPr>
        <p:spPr>
          <a:xfrm>
            <a:off x="1295400" y="7573714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namn}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1295400" y="7894588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{M9–M12}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3810000" y="8335566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0" name="Shape 68"/>
          <p:cNvSpPr/>
          <p:nvPr/>
        </p:nvSpPr>
        <p:spPr>
          <a:xfrm>
            <a:off x="12699950" y="7725966"/>
            <a:ext cx="4444901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1" name="Text 69"/>
          <p:cNvSpPr/>
          <p:nvPr/>
        </p:nvSpPr>
        <p:spPr>
          <a:xfrm>
            <a:off x="12814250" y="7725966"/>
            <a:ext cx="4349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4}</a:t>
            </a:r>
            <a:endParaRPr lang="en-US" sz="975" dirty="0"/>
          </a:p>
        </p:txBody>
      </p:sp>
      <p:sp>
        <p:nvSpPr>
          <p:cNvPr id="72" name="Shape 70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3" name="Text 71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17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GENOMFÖRANDE — FAS 1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1" y="1440210"/>
            <a:ext cx="3124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1" y="1792635"/>
            <a:ext cx="84201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{M1–M2}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49761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{Aktiviteter}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49761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{Leveranser}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4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3467100" y="9201150"/>
            <a:ext cx="2279600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17</a:t>
            </a:r>
            <a:endParaRPr lang="en-US" sz="1350" dirty="0"/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0B4BFD28-7CC4-7EB4-5C0E-924A9AC7BA44}"/>
              </a:ext>
            </a:extLst>
          </p:cNvPr>
          <p:cNvSpPr/>
          <p:nvPr/>
        </p:nvSpPr>
        <p:spPr>
          <a:xfrm>
            <a:off x="12115801" y="280988"/>
            <a:ext cx="5097779" cy="871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dirty="0"/>
              <a:t>{Mål}</a:t>
            </a: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5CDACDC8-417D-B9E3-4861-E7CEE7BFA914}"/>
              </a:ext>
            </a:extLst>
          </p:cNvPr>
          <p:cNvSpPr/>
          <p:nvPr/>
        </p:nvSpPr>
        <p:spPr>
          <a:xfrm>
            <a:off x="1333500" y="7839075"/>
            <a:ext cx="10475976" cy="8001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{Risker}</a:t>
            </a:r>
            <a:endParaRPr lang="en-US" sz="165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BCDE78B3-D30A-46C7-CF5F-6E897FE65AB8}"/>
              </a:ext>
            </a:extLst>
          </p:cNvPr>
          <p:cNvSpPr/>
          <p:nvPr/>
        </p:nvSpPr>
        <p:spPr>
          <a:xfrm>
            <a:off x="12150090" y="1322548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GENOMFÖRANDE — FAS 2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0" y="1440210"/>
            <a:ext cx="138527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0" y="1792635"/>
            <a:ext cx="13852779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{M2–M5}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1}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335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2}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35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3}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5594896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4}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1}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8199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2}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199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3}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1}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534900" y="466531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2}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534900" y="513010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{Go/no-go till nästa fas}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4606826" y="9201150"/>
            <a:ext cx="4559201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17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GENOMFÖRANDE — FAS 3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0" y="1440210"/>
            <a:ext cx="138527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0" y="1792635"/>
            <a:ext cx="13852779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{M5–M9}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1}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335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2}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35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3}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5594896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4}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1}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8199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2}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199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3}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1}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534900" y="466531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2}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534900" y="513010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{Go/no-go till nästa fas}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8026301" y="9201150"/>
            <a:ext cx="5699075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17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GENOMFÖRANDE — FAS 4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0" y="1440210"/>
            <a:ext cx="138527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0" y="1792635"/>
            <a:ext cx="13852779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{M9–M12}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1}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335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2}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35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3}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5594896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4}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1 — slutleverans}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8199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2 — överlämning}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199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3 — slutrapport}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1 — godkännande av slutleverans}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534900" y="466531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2 — förvaltningsöverlämning}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534900" y="513010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{Avslut av uppdrag}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12585650" y="9201150"/>
            <a:ext cx="4559201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17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KVALITETSSÄKRING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Kvalitetssäkring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38400"/>
            <a:ext cx="5029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619375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QA-PROCESS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3162300"/>
            <a:ext cx="5180076" cy="46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{QA-process}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29400" y="2438400"/>
            <a:ext cx="5029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6629400" y="2619375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ANSVARIG KVALITETSLEDARE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29400" y="3162300"/>
            <a:ext cx="5180076" cy="46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{Kvalitetsledare}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115800" y="2438400"/>
            <a:ext cx="5029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2115800" y="2619375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ESKALERING OCH RAPPORTERING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115800" y="3162300"/>
            <a:ext cx="5180076" cy="46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{Eskalering}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7890570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1143000" y="8204895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AVSTÄMNINGSPUNKTER MOT BESTÄLLARE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4300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132397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23975" y="9086850"/>
            <a:ext cx="34234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1 — tidpunkt och innehåll}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0065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538162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81625" y="9086850"/>
            <a:ext cx="13541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2}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25830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943927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39275" y="9086850"/>
            <a:ext cx="13541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3}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331595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1349692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3496925" y="9086850"/>
            <a:ext cx="13541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4}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17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TEAM, OMFATTNING OCH PRIS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Team, omfattning och pris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05063"/>
            <a:ext cx="3238946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1143000" y="2987873"/>
            <a:ext cx="323894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1143000" y="2405063"/>
            <a:ext cx="323894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333500" y="2586038"/>
            <a:ext cx="2955115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KONSULT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1946" y="2405063"/>
            <a:ext cx="3191024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Shape 7"/>
          <p:cNvSpPr/>
          <p:nvPr/>
        </p:nvSpPr>
        <p:spPr>
          <a:xfrm>
            <a:off x="4381946" y="2987873"/>
            <a:ext cx="3191024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4381946" y="2405063"/>
            <a:ext cx="3191024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4572446" y="2586038"/>
            <a:ext cx="2905755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72970" y="2405063"/>
            <a:ext cx="2392710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7572970" y="2987873"/>
            <a:ext cx="239271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7572970" y="2405063"/>
            <a:ext cx="239271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7763470" y="2586038"/>
            <a:ext cx="2087910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OMFATTNING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965680" y="2405063"/>
            <a:ext cx="2181076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9965680" y="2987873"/>
            <a:ext cx="218107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Shape 16"/>
          <p:cNvSpPr/>
          <p:nvPr/>
        </p:nvSpPr>
        <p:spPr>
          <a:xfrm>
            <a:off x="9965680" y="2405063"/>
            <a:ext cx="218107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156180" y="2586038"/>
            <a:ext cx="1876276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TIMPRIS (SEK)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146756" y="2405063"/>
            <a:ext cx="2227808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12146756" y="2987873"/>
            <a:ext cx="2227808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12146756" y="2405063"/>
            <a:ext cx="2227808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2337256" y="2586038"/>
            <a:ext cx="1923008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TIMMAR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4374564" y="2405063"/>
            <a:ext cx="2770436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Shape 23"/>
          <p:cNvSpPr/>
          <p:nvPr/>
        </p:nvSpPr>
        <p:spPr>
          <a:xfrm>
            <a:off x="14374564" y="2987873"/>
            <a:ext cx="277043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Shape 24"/>
          <p:cNvSpPr/>
          <p:nvPr/>
        </p:nvSpPr>
        <p:spPr>
          <a:xfrm>
            <a:off x="14374564" y="2405063"/>
            <a:ext cx="277043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14565064" y="2586038"/>
            <a:ext cx="247254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 VOLYM (SEK)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43000" y="3633639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1333500" y="3168848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1 — namn}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4572446" y="3168848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1}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763470" y="3168848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1 %}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156180" y="3168848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1}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337256" y="3168848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1}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4565064" y="3168848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1}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143000" y="4279404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1333500" y="3814614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2 — namn}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4572446" y="3814614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2}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763470" y="3814614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2 %}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156180" y="3814614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2}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2337256" y="3814614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2}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4565064" y="3814614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2}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143000" y="4925169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3" name="Text 41"/>
          <p:cNvSpPr/>
          <p:nvPr/>
        </p:nvSpPr>
        <p:spPr>
          <a:xfrm>
            <a:off x="1333500" y="4460379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3 — namn}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4572446" y="4460379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3}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763470" y="4460379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3 %}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0156180" y="4460379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3}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2337256" y="4460379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3}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4565064" y="4460379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3}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143000" y="5570934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333500" y="5106144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4 — namn}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4572446" y="5106144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4}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7763470" y="5106144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4 %}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0156180" y="5106144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4}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2337256" y="5106144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4}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4565064" y="5106144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4}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143000" y="62167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7" name="Text 55"/>
          <p:cNvSpPr/>
          <p:nvPr/>
        </p:nvSpPr>
        <p:spPr>
          <a:xfrm>
            <a:off x="1333500" y="5751909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5 — namn}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4572446" y="5751909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5}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7763470" y="5751909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5 %}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0156180" y="5751909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5}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12337256" y="5751909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5}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4565064" y="5751909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5}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143000" y="6881515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4" name="Shape 62"/>
          <p:cNvSpPr/>
          <p:nvPr/>
        </p:nvSpPr>
        <p:spPr>
          <a:xfrm>
            <a:off x="1143000" y="6226225"/>
            <a:ext cx="1100375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5" name="Text 63"/>
          <p:cNvSpPr/>
          <p:nvPr/>
        </p:nvSpPr>
        <p:spPr>
          <a:xfrm>
            <a:off x="1333500" y="6426250"/>
            <a:ext cx="10952869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 — anbudspris exkl. moms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2146756" y="6226225"/>
            <a:ext cx="2227808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7" name="Text 65"/>
          <p:cNvSpPr/>
          <p:nvPr/>
        </p:nvSpPr>
        <p:spPr>
          <a:xfrm>
            <a:off x="12337256" y="6426250"/>
            <a:ext cx="1923008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{Summa timmar}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14374564" y="6226225"/>
            <a:ext cx="277043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9" name="Text 67"/>
          <p:cNvSpPr/>
          <p:nvPr/>
        </p:nvSpPr>
        <p:spPr>
          <a:xfrm>
            <a:off x="14565064" y="6426250"/>
            <a:ext cx="2472549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{Anbudspris totalt}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1143000" y="7162502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Samtliga priser anges i SEK exklusive moms. Omfattning anger del av heltid under uppdragstiden.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2" name="Text 70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17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UPPFYLLELSE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Uppfyllelse av ska-krav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05063"/>
            <a:ext cx="1280071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1143000" y="3227784"/>
            <a:ext cx="1280071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1143000" y="2405063"/>
            <a:ext cx="1280071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333500" y="2586038"/>
            <a:ext cx="975271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423071" y="2405063"/>
            <a:ext cx="5120580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Shape 7"/>
          <p:cNvSpPr/>
          <p:nvPr/>
        </p:nvSpPr>
        <p:spPr>
          <a:xfrm>
            <a:off x="2423071" y="3227784"/>
            <a:ext cx="512058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2423071" y="2405063"/>
            <a:ext cx="512058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2613571" y="2586038"/>
            <a:ext cx="4893198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SKA-KRAV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3651" y="2405063"/>
            <a:ext cx="1600200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7543651" y="3227784"/>
            <a:ext cx="1600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7543651" y="2405063"/>
            <a:ext cx="1600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7734151" y="2586038"/>
            <a:ext cx="1295400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UPPFYLLT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3851" y="2405063"/>
            <a:ext cx="4800600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9143851" y="3227784"/>
            <a:ext cx="48006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Shape 16"/>
          <p:cNvSpPr/>
          <p:nvPr/>
        </p:nvSpPr>
        <p:spPr>
          <a:xfrm>
            <a:off x="9143851" y="2405063"/>
            <a:ext cx="48006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9334351" y="2586038"/>
            <a:ext cx="4563618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HUR KRAVET UPPFYLLS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944451" y="2405063"/>
            <a:ext cx="3200549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13944451" y="3227784"/>
            <a:ext cx="3200549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13944451" y="2405063"/>
            <a:ext cx="3200549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4134951" y="2586038"/>
            <a:ext cx="2915565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REFERENS (CV / ERFARENHET)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3000" y="416689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1333500" y="3408759"/>
            <a:ext cx="975271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2613571" y="3408759"/>
            <a:ext cx="4893198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1 — formulering enligt upphandlingsunderlag}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734151" y="3423047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7848451" y="3461147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34351" y="3408759"/>
            <a:ext cx="4563618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1 uppfylls — konkret beskrivning}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134951" y="3408759"/>
            <a:ext cx="2915565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1}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43000" y="481831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1333500" y="4347865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2613571" y="4347865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2}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734151" y="4362152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7848451" y="4400252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34351" y="4347865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2 uppfylls}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4134951" y="4347865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2}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143000" y="546973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9" name="Text 37"/>
          <p:cNvSpPr/>
          <p:nvPr/>
        </p:nvSpPr>
        <p:spPr>
          <a:xfrm>
            <a:off x="1333500" y="4999286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2613571" y="4999286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3}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7734151" y="5013573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7848451" y="5051673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334351" y="4999286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3 uppfylls}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4134951" y="4999286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3}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143000" y="6121152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333500" y="5650706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2613571" y="5650706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4}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7734151" y="5664994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9" name="Text 47"/>
          <p:cNvSpPr/>
          <p:nvPr/>
        </p:nvSpPr>
        <p:spPr>
          <a:xfrm>
            <a:off x="7848451" y="5703094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334351" y="5650706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4 uppfylls}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4134951" y="5650706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4}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143000" y="6772573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3" name="Text 51"/>
          <p:cNvSpPr/>
          <p:nvPr/>
        </p:nvSpPr>
        <p:spPr>
          <a:xfrm>
            <a:off x="1333500" y="6302127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2613571" y="6302127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5}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7734151" y="6316414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6" name="Text 54"/>
          <p:cNvSpPr/>
          <p:nvPr/>
        </p:nvSpPr>
        <p:spPr>
          <a:xfrm>
            <a:off x="7848451" y="6354514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334351" y="6302127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5 uppfylls}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4134951" y="6302127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5}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143000" y="7423993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0" name="Text 58"/>
          <p:cNvSpPr/>
          <p:nvPr/>
        </p:nvSpPr>
        <p:spPr>
          <a:xfrm>
            <a:off x="1333500" y="6953548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2613571" y="6953548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6}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7734151" y="6967835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3" name="Text 61"/>
          <p:cNvSpPr/>
          <p:nvPr/>
        </p:nvSpPr>
        <p:spPr>
          <a:xfrm>
            <a:off x="7848451" y="7005935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334351" y="6953548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6 uppfylls}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4134951" y="6953548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6}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7" name="Text 65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17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REFERENS 01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1 — kundnamn}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1 — kort kontextrad, t.ex. ”Digitalisering av ärendehantering”}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Vänster"/>
          <p:cNvSpPr/>
          <p:nvPr/>
        </p:nvSpPr>
        <p:spPr>
          <a:xfrm>
            <a:off x="1143000" y="3305175"/>
            <a:ext cx="3531870" cy="60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{Vänster}</a:t>
            </a:r>
            <a:endParaRPr lang="en-US" sz="1500" dirty="0"/>
          </a:p>
        </p:txBody>
      </p:sp>
      <p:sp>
        <p:nvSpPr>
          <p:cNvPr id="14" name="Text Höger"/>
          <p:cNvSpPr/>
          <p:nvPr/>
        </p:nvSpPr>
        <p:spPr>
          <a:xfrm>
            <a:off x="5143500" y="3305175"/>
            <a:ext cx="12361545" cy="60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{Höger}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17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REFERENS 02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2 — kundnamn}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2 — kort kontextrad}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1143000" y="3305175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3552825"/>
            <a:ext cx="353187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{Kund — organisation}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089946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PERIOD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4337596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{Start MM/ÅÅÅÅ} — {Slut MM/ÅÅÅÅ}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183237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OMFATTNING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5430887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{Omfattning — antal timmar, konsulter och total volym}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6276529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KONTAKTPERSON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6524179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{Namn} </a:t>
            </a:r>
            <a:r>
              <a:rPr lang="en-US" sz="13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{Titel} · {Telefon} · {E-post}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43500" y="3305175"/>
            <a:ext cx="123615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ROLL OCH LEVERANS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43500" y="3590925"/>
            <a:ext cx="1236154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{Roll/leverans}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143500" y="4254698"/>
            <a:ext cx="123615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43500" y="4540448"/>
            <a:ext cx="1236154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{Resultat}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17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· ANBUDSSEKRETESS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Anbudssekretess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Begäran om sekretess enligt offentlighets- och sekretesslagen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2914650"/>
            <a:ext cx="15697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{Bolagsnamn} </a:t>
            </a: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begär härmed att följande uppgifter i anbudet omfattas av sekretess enligt </a:t>
            </a: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{OSL kap X §Y} </a:t>
            </a: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Ett offentliggörande av nedanstående uppgifter bedöms medföra sådan skada att uppgifterna inte bör lämnas ut.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4535686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Shape 5"/>
          <p:cNvSpPr/>
          <p:nvPr/>
        </p:nvSpPr>
        <p:spPr>
          <a:xfrm>
            <a:off x="1143000" y="3981450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1143000" y="4143375"/>
            <a:ext cx="121920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67000" y="4143375"/>
            <a:ext cx="725995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OMFATTAR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96500" y="4143375"/>
            <a:ext cx="725995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MOTIVERING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43000" y="553581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1143000" y="4773811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1}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67000" y="477381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 av sekretess}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96500" y="477381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{Varför — skadan som uppstår vid utlämnande}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43000" y="6535936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143000" y="5773936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2}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67000" y="577393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096500" y="577393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{Motivering}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43000" y="753606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1143000" y="6774061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3}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67000" y="677406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omfattas}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096500" y="677406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{Motivering}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143000" y="8536186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1143000" y="7774186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4}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67000" y="777418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omfattas}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096500" y="777418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{Motivering}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17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· CERTIFIERINGAR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Certifieringar och kvalitetsmärkningar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3790950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552700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9001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933700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Kvalitetsledningssystem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333750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8470" y="3333750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45509" y="3333750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27688" y="3333750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72600" y="3790950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9372600" y="2552700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27001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72600" y="2933700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Ledningssystem för informationssäkerhet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72600" y="3333750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48070" y="3333750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75109" y="3333750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257288" y="3333750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43000" y="5305425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143000" y="4067175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14001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43000" y="4448175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Miljöledningssystem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848225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8470" y="4848225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45509" y="4848225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27688" y="4848225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72600" y="5305425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9372600" y="4067175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{Övrig relevant certifiering}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372600" y="4448175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{Beskrivning}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72600" y="4848225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48070" y="4848225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775109" y="4848225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257288" y="4848225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569595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Kopior av samtliga certifikat bifogas anbudet som separata bilagor.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17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1524</Words>
  <Application>Microsoft Office PowerPoint</Application>
  <PresentationFormat>Anpassad</PresentationFormat>
  <Paragraphs>433</Paragraphs>
  <Slides>17</Slides>
  <Notes>17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17</vt:i4>
      </vt:variant>
    </vt:vector>
  </HeadingPairs>
  <TitlesOfParts>
    <vt:vector size="22" baseType="lpstr">
      <vt:lpstr>-apple-system</vt:lpstr>
      <vt:lpstr>Arial</vt:lpstr>
      <vt:lpstr>IBM Plex Mono</vt:lpstr>
      <vt:lpstr>IBM Plex Sans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Stefan Edgren</cp:lastModifiedBy>
  <cp:revision>6</cp:revision>
  <dcterms:created xsi:type="dcterms:W3CDTF">2026-04-19T07:25:46Z</dcterms:created>
  <dcterms:modified xsi:type="dcterms:W3CDTF">2026-04-25T20:06:19Z</dcterms:modified>
</cp:coreProperties>
</file>
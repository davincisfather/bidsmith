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2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7532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a"/>
          <p:cNvSpPr/>
          <p:nvPr/>
        </p:nvSpPr>
        <p:spPr>
          <a:xfrm>
            <a:off x="914400" y="914400"/>
            <a:ext cx="8839200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sv-SE" sz="1800" dirty="0"/>
              <a:t>Denna presentation beskriver vårt erbjudande, genomförandeplan och relevanta referensuppdrag för det aktuella uppdraget.</a:t>
            </a:r>
            <a:endParaRPr lang="sv-SE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Kravmatris"/>
          <p:cNvGraphicFramePr>
            <a:graphicFrameLocks noGrp="1"/>
          </p:cNvGraphicFramePr>
          <p:nvPr/>
        </p:nvGraphicFramePr>
        <p:xfrm>
          <a:off x="914400" y="1500000"/>
          <a:ext cx="88392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524000"/>
                <a:gridCol w="1828800"/>
                <a:gridCol w="914400"/>
              </a:tblGrid>
              <a:tr h="370840">
                <a:tc>
                  <a:txBody>
                    <a:bodyPr/>
                    <a:lstStyle/>
                    <a:p>
                      <a:r>
                        <a:rPr lang="sv-SE" b="1" dirty="0"/>
                        <a:t>Krav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b="1" dirty="0"/>
                        <a:t>Uppfyllnad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b="1" dirty="0"/>
                        <a:t>Referens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b="1" dirty="0"/>
                        <a:t>Status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/>
                        <a:t>Minst 5 års erfarenhet av strategisk rådgivning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Uppfylls, se bilaga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Bilaga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Uppfyllt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VÅR FÖRSTÅELSE AV UPPDRAGET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648206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Kunden idag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867025"/>
            <a:ext cx="76581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/>
          <p:nvPr/>
        </p:nvSpPr>
        <p:spPr>
          <a:xfrm>
            <a:off x="1143000" y="2514600"/>
            <a:ext cx="788784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ORGANISATION OCH SYSTEM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43000" y="3086100"/>
            <a:ext cx="7887843" cy="6030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{Nuläge}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486900" y="2867025"/>
            <a:ext cx="76581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6" name="Text 14"/>
          <p:cNvSpPr/>
          <p:nvPr/>
        </p:nvSpPr>
        <p:spPr>
          <a:xfrm>
            <a:off x="9486900" y="2514600"/>
            <a:ext cx="788784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SMÄRTPUNKTER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486900" y="3086100"/>
            <a:ext cx="7887843" cy="6030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—"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{Smärtpunkter}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6" name="Text 24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17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VÅR FÖRSTÅELSE AV UPPDRAGET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648206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Uppdragsbeskrivning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143000" y="2095500"/>
            <a:ext cx="1648206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000" kern="0" spc="-3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Uppdraget parafraserat — så läser vi RFP:n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3067049"/>
            <a:ext cx="16002000" cy="6067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100" dirty="0"/>
              <a:t>{</a:t>
            </a:r>
            <a:r>
              <a:rPr lang="en-US" sz="2100" dirty="0" err="1"/>
              <a:t>Stycken</a:t>
            </a:r>
            <a:r>
              <a:rPr lang="en-US" sz="2100" dirty="0"/>
              <a:t>}</a:t>
            </a:r>
          </a:p>
        </p:txBody>
      </p:sp>
      <p:sp>
        <p:nvSpPr>
          <p:cNvPr id="6" name="Text 4"/>
          <p:cNvSpPr/>
          <p:nvPr/>
        </p:nvSpPr>
        <p:spPr>
          <a:xfrm>
            <a:off x="1143000" y="4057650"/>
            <a:ext cx="1471612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5048250"/>
            <a:ext cx="1471612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9" name="Text 7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17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VÅR FÖRSTÅELSE AV UPPDRAGET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648206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Vad vi ser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867025"/>
            <a:ext cx="76581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/>
          <p:nvPr/>
        </p:nvSpPr>
        <p:spPr>
          <a:xfrm>
            <a:off x="1143000" y="2514600"/>
            <a:ext cx="788784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IDENTIFIERADE UTMANINGAR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143000" y="3086099"/>
            <a:ext cx="19050" cy="6228000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390650" y="3086099"/>
            <a:ext cx="7640193" cy="62279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9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</a:t>
            </a:r>
            <a:r>
              <a:rPr lang="en-US" sz="1950" dirty="0" err="1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Utmaningar</a:t>
            </a:r>
            <a:r>
              <a:rPr lang="en-US" sz="19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}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486900" y="2867025"/>
            <a:ext cx="76581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5" name="Text 13"/>
          <p:cNvSpPr/>
          <p:nvPr/>
        </p:nvSpPr>
        <p:spPr>
          <a:xfrm>
            <a:off x="9486900" y="2514600"/>
            <a:ext cx="788784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VÄRDE UTÖVER SKA-KRAVEN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734550" y="3086100"/>
            <a:ext cx="7640193" cy="622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9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</a:t>
            </a:r>
            <a:r>
              <a:rPr lang="en-US" sz="1950" dirty="0" err="1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Värden</a:t>
            </a:r>
            <a:r>
              <a:rPr lang="en-US" sz="19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}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734550" y="3988891"/>
            <a:ext cx="7640193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5" name="Text 23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17</a:t>
            </a:r>
            <a:endParaRPr lang="en-US" sz="1350" dirty="0"/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C3780692-53D5-B853-90B3-1805539B51B9}"/>
              </a:ext>
            </a:extLst>
          </p:cNvPr>
          <p:cNvSpPr/>
          <p:nvPr/>
        </p:nvSpPr>
        <p:spPr>
          <a:xfrm>
            <a:off x="9486900" y="3086100"/>
            <a:ext cx="19050" cy="6228000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GENOMFÖRANDE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228725"/>
            <a:ext cx="1648206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Genomförande — översikt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133600"/>
            <a:ext cx="37719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/>
          <p:nvPr/>
        </p:nvSpPr>
        <p:spPr>
          <a:xfrm>
            <a:off x="1143000" y="2333625"/>
            <a:ext cx="388505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43000" y="2581275"/>
            <a:ext cx="38850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1 — namn}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924175"/>
            <a:ext cx="3885057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1 — kort beskrivning. Detaljer på nästa slide.}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219700" y="2133600"/>
            <a:ext cx="37719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9" name="Text 7"/>
          <p:cNvSpPr/>
          <p:nvPr/>
        </p:nvSpPr>
        <p:spPr>
          <a:xfrm>
            <a:off x="5219700" y="2333625"/>
            <a:ext cx="388505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 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219700" y="2581275"/>
            <a:ext cx="38850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2 — namn}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19700" y="2924175"/>
            <a:ext cx="3885057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2 — beskrivning}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296400" y="2133600"/>
            <a:ext cx="37719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3" name="Text 11"/>
          <p:cNvSpPr/>
          <p:nvPr/>
        </p:nvSpPr>
        <p:spPr>
          <a:xfrm>
            <a:off x="9296400" y="2333625"/>
            <a:ext cx="388505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 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296400" y="2581275"/>
            <a:ext cx="38850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3 — namn}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296400" y="2924175"/>
            <a:ext cx="3885057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3 — beskrivning}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3373100" y="2133600"/>
            <a:ext cx="37719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7" name="Text 15"/>
          <p:cNvSpPr/>
          <p:nvPr/>
        </p:nvSpPr>
        <p:spPr>
          <a:xfrm>
            <a:off x="13373100" y="2333625"/>
            <a:ext cx="388505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 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3373100" y="2581275"/>
            <a:ext cx="38850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4 — namn}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373100" y="2924175"/>
            <a:ext cx="3885057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4 — beskrivning}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143000" y="8345091"/>
            <a:ext cx="16002000" cy="9525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1" name="Shape 19"/>
          <p:cNvSpPr/>
          <p:nvPr/>
        </p:nvSpPr>
        <p:spPr>
          <a:xfrm>
            <a:off x="1143000" y="3916561"/>
            <a:ext cx="160020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2" name="Shape 20"/>
          <p:cNvSpPr/>
          <p:nvPr/>
        </p:nvSpPr>
        <p:spPr>
          <a:xfrm>
            <a:off x="1143000" y="4411861"/>
            <a:ext cx="2667000" cy="9525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3" name="Text 21"/>
          <p:cNvSpPr/>
          <p:nvPr/>
        </p:nvSpPr>
        <p:spPr>
          <a:xfrm>
            <a:off x="1295400" y="4059436"/>
            <a:ext cx="244221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3810000" y="3926086"/>
            <a:ext cx="9525" cy="49530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5" name="Text 23"/>
          <p:cNvSpPr/>
          <p:nvPr/>
        </p:nvSpPr>
        <p:spPr>
          <a:xfrm>
            <a:off x="3781425" y="4059436"/>
            <a:ext cx="117782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84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21151" y="3926086"/>
            <a:ext cx="9525" cy="49530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7" name="Text 25"/>
          <p:cNvSpPr/>
          <p:nvPr/>
        </p:nvSpPr>
        <p:spPr>
          <a:xfrm>
            <a:off x="4892576" y="4059436"/>
            <a:ext cx="11779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84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32450" y="3926086"/>
            <a:ext cx="9525" cy="49530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9" name="Text 27"/>
          <p:cNvSpPr/>
          <p:nvPr/>
        </p:nvSpPr>
        <p:spPr>
          <a:xfrm>
            <a:off x="6003875" y="4059436"/>
            <a:ext cx="117782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84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M3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143601" y="3926086"/>
            <a:ext cx="9525" cy="49530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1" name="Text 29"/>
          <p:cNvSpPr/>
          <p:nvPr/>
        </p:nvSpPr>
        <p:spPr>
          <a:xfrm>
            <a:off x="7115026" y="4059436"/>
            <a:ext cx="11779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84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M4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254901" y="3926086"/>
            <a:ext cx="9525" cy="49530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3" name="Text 31"/>
          <p:cNvSpPr/>
          <p:nvPr/>
        </p:nvSpPr>
        <p:spPr>
          <a:xfrm>
            <a:off x="8226326" y="4059436"/>
            <a:ext cx="11779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84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M5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366200" y="3926086"/>
            <a:ext cx="9525" cy="49530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5" name="Text 33"/>
          <p:cNvSpPr/>
          <p:nvPr/>
        </p:nvSpPr>
        <p:spPr>
          <a:xfrm>
            <a:off x="9337625" y="4059436"/>
            <a:ext cx="117782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84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M6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477351" y="3926086"/>
            <a:ext cx="9525" cy="49530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7" name="Text 35"/>
          <p:cNvSpPr/>
          <p:nvPr/>
        </p:nvSpPr>
        <p:spPr>
          <a:xfrm>
            <a:off x="10448776" y="4059436"/>
            <a:ext cx="11779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84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M7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1588651" y="3926086"/>
            <a:ext cx="9525" cy="49530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9" name="Text 37"/>
          <p:cNvSpPr/>
          <p:nvPr/>
        </p:nvSpPr>
        <p:spPr>
          <a:xfrm>
            <a:off x="11560076" y="4059436"/>
            <a:ext cx="11779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84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M8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2699950" y="3926086"/>
            <a:ext cx="9525" cy="49530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1" name="Text 39"/>
          <p:cNvSpPr/>
          <p:nvPr/>
        </p:nvSpPr>
        <p:spPr>
          <a:xfrm>
            <a:off x="12671375" y="4059436"/>
            <a:ext cx="117782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84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M9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3811101" y="3926086"/>
            <a:ext cx="9525" cy="49530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3" name="Text 41"/>
          <p:cNvSpPr/>
          <p:nvPr/>
        </p:nvSpPr>
        <p:spPr>
          <a:xfrm>
            <a:off x="13782526" y="4059436"/>
            <a:ext cx="11779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84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M10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4922401" y="3926086"/>
            <a:ext cx="9525" cy="49530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5" name="Text 43"/>
          <p:cNvSpPr/>
          <p:nvPr/>
        </p:nvSpPr>
        <p:spPr>
          <a:xfrm>
            <a:off x="14893826" y="4059436"/>
            <a:ext cx="11779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84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M11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16033700" y="3926086"/>
            <a:ext cx="9525" cy="49530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7" name="Text 45"/>
          <p:cNvSpPr/>
          <p:nvPr/>
        </p:nvSpPr>
        <p:spPr>
          <a:xfrm>
            <a:off x="16005125" y="4059436"/>
            <a:ext cx="117782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84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M12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143000" y="5392787"/>
            <a:ext cx="2667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9" name="Text 47"/>
          <p:cNvSpPr/>
          <p:nvPr/>
        </p:nvSpPr>
        <p:spPr>
          <a:xfrm>
            <a:off x="1295400" y="4630936"/>
            <a:ext cx="243840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1 — namn}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1295400" y="4951809"/>
            <a:ext cx="2438400" cy="269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{M1–M2}</a:t>
            </a:r>
            <a:endParaRPr lang="en-US" sz="1350" dirty="0"/>
          </a:p>
        </p:txBody>
      </p:sp>
      <p:sp>
        <p:nvSpPr>
          <p:cNvPr id="51" name="Shape 49"/>
          <p:cNvSpPr/>
          <p:nvPr/>
        </p:nvSpPr>
        <p:spPr>
          <a:xfrm>
            <a:off x="3810000" y="5392787"/>
            <a:ext cx="13335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2" name="Shape 50"/>
          <p:cNvSpPr/>
          <p:nvPr/>
        </p:nvSpPr>
        <p:spPr>
          <a:xfrm>
            <a:off x="3810000" y="4783187"/>
            <a:ext cx="2222450" cy="247650"/>
          </a:xfrm>
          <a:prstGeom prst="roundRect">
            <a:avLst>
              <a:gd name="adj" fmla="val 7692"/>
            </a:avLst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3" name="Text 51"/>
          <p:cNvSpPr/>
          <p:nvPr/>
        </p:nvSpPr>
        <p:spPr>
          <a:xfrm>
            <a:off x="3924300" y="4783187"/>
            <a:ext cx="20700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kern="0" spc="39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{Fas 1}</a:t>
            </a:r>
            <a:endParaRPr lang="en-US" sz="975" dirty="0"/>
          </a:p>
        </p:txBody>
      </p:sp>
      <p:sp>
        <p:nvSpPr>
          <p:cNvPr id="54" name="Shape 52"/>
          <p:cNvSpPr/>
          <p:nvPr/>
        </p:nvSpPr>
        <p:spPr>
          <a:xfrm>
            <a:off x="1143000" y="6373713"/>
            <a:ext cx="2667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5" name="Text 53"/>
          <p:cNvSpPr/>
          <p:nvPr/>
        </p:nvSpPr>
        <p:spPr>
          <a:xfrm>
            <a:off x="1295400" y="5611862"/>
            <a:ext cx="243840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2 — namn}</a:t>
            </a:r>
            <a:endParaRPr lang="en-US" sz="1650" dirty="0"/>
          </a:p>
        </p:txBody>
      </p:sp>
      <p:sp>
        <p:nvSpPr>
          <p:cNvPr id="56" name="Text 54"/>
          <p:cNvSpPr/>
          <p:nvPr/>
        </p:nvSpPr>
        <p:spPr>
          <a:xfrm>
            <a:off x="1295400" y="5932736"/>
            <a:ext cx="2438400" cy="269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{M2–M5}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3810000" y="6373713"/>
            <a:ext cx="13335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8" name="Shape 56"/>
          <p:cNvSpPr/>
          <p:nvPr/>
        </p:nvSpPr>
        <p:spPr>
          <a:xfrm>
            <a:off x="4921151" y="5764113"/>
            <a:ext cx="4445050" cy="247650"/>
          </a:xfrm>
          <a:prstGeom prst="roundRect">
            <a:avLst>
              <a:gd name="adj" fmla="val 7692"/>
            </a:avLst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9" name="Text 57"/>
          <p:cNvSpPr/>
          <p:nvPr/>
        </p:nvSpPr>
        <p:spPr>
          <a:xfrm>
            <a:off x="5035451" y="5764113"/>
            <a:ext cx="434980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kern="0" spc="39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{Fas 2}</a:t>
            </a:r>
            <a:endParaRPr lang="en-US" sz="975" dirty="0"/>
          </a:p>
        </p:txBody>
      </p:sp>
      <p:sp>
        <p:nvSpPr>
          <p:cNvPr id="60" name="Shape 58"/>
          <p:cNvSpPr/>
          <p:nvPr/>
        </p:nvSpPr>
        <p:spPr>
          <a:xfrm>
            <a:off x="1143000" y="7354639"/>
            <a:ext cx="2667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1" name="Text 59"/>
          <p:cNvSpPr/>
          <p:nvPr/>
        </p:nvSpPr>
        <p:spPr>
          <a:xfrm>
            <a:off x="1295400" y="6592788"/>
            <a:ext cx="243840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3 — namn}</a:t>
            </a:r>
            <a:endParaRPr lang="en-US" sz="1650" dirty="0"/>
          </a:p>
        </p:txBody>
      </p:sp>
      <p:sp>
        <p:nvSpPr>
          <p:cNvPr id="62" name="Text 60"/>
          <p:cNvSpPr/>
          <p:nvPr/>
        </p:nvSpPr>
        <p:spPr>
          <a:xfrm>
            <a:off x="1295400" y="6913662"/>
            <a:ext cx="2438400" cy="269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{M5–M9}</a:t>
            </a:r>
            <a:endParaRPr lang="en-US" sz="1350" dirty="0"/>
          </a:p>
        </p:txBody>
      </p:sp>
      <p:sp>
        <p:nvSpPr>
          <p:cNvPr id="63" name="Shape 61"/>
          <p:cNvSpPr/>
          <p:nvPr/>
        </p:nvSpPr>
        <p:spPr>
          <a:xfrm>
            <a:off x="3810000" y="7354639"/>
            <a:ext cx="13335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4" name="Shape 62"/>
          <p:cNvSpPr/>
          <p:nvPr/>
        </p:nvSpPr>
        <p:spPr>
          <a:xfrm>
            <a:off x="8254901" y="6745039"/>
            <a:ext cx="5556349" cy="247650"/>
          </a:xfrm>
          <a:prstGeom prst="roundRect">
            <a:avLst>
              <a:gd name="adj" fmla="val 7692"/>
            </a:avLst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5" name="Text 63"/>
          <p:cNvSpPr/>
          <p:nvPr/>
        </p:nvSpPr>
        <p:spPr>
          <a:xfrm>
            <a:off x="8369201" y="6745039"/>
            <a:ext cx="549444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kern="0" spc="39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{Fas 3}</a:t>
            </a:r>
            <a:endParaRPr lang="en-US" sz="975" dirty="0"/>
          </a:p>
        </p:txBody>
      </p:sp>
      <p:sp>
        <p:nvSpPr>
          <p:cNvPr id="66" name="Shape 64"/>
          <p:cNvSpPr/>
          <p:nvPr/>
        </p:nvSpPr>
        <p:spPr>
          <a:xfrm>
            <a:off x="1143000" y="8335566"/>
            <a:ext cx="2667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7" name="Text 65"/>
          <p:cNvSpPr/>
          <p:nvPr/>
        </p:nvSpPr>
        <p:spPr>
          <a:xfrm>
            <a:off x="1295400" y="7573714"/>
            <a:ext cx="243840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4 — namn}</a:t>
            </a:r>
            <a:endParaRPr lang="en-US" sz="1650" dirty="0"/>
          </a:p>
        </p:txBody>
      </p:sp>
      <p:sp>
        <p:nvSpPr>
          <p:cNvPr id="68" name="Text 66"/>
          <p:cNvSpPr/>
          <p:nvPr/>
        </p:nvSpPr>
        <p:spPr>
          <a:xfrm>
            <a:off x="1295400" y="7894588"/>
            <a:ext cx="2438400" cy="269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{M9–M12}</a:t>
            </a:r>
            <a:endParaRPr lang="en-US" sz="1350" dirty="0"/>
          </a:p>
        </p:txBody>
      </p:sp>
      <p:sp>
        <p:nvSpPr>
          <p:cNvPr id="69" name="Shape 67"/>
          <p:cNvSpPr/>
          <p:nvPr/>
        </p:nvSpPr>
        <p:spPr>
          <a:xfrm>
            <a:off x="3810000" y="8335566"/>
            <a:ext cx="13335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70" name="Shape 68"/>
          <p:cNvSpPr/>
          <p:nvPr/>
        </p:nvSpPr>
        <p:spPr>
          <a:xfrm>
            <a:off x="12699950" y="7725966"/>
            <a:ext cx="4444901" cy="247650"/>
          </a:xfrm>
          <a:prstGeom prst="roundRect">
            <a:avLst>
              <a:gd name="adj" fmla="val 7692"/>
            </a:avLst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71" name="Text 69"/>
          <p:cNvSpPr/>
          <p:nvPr/>
        </p:nvSpPr>
        <p:spPr>
          <a:xfrm>
            <a:off x="12814250" y="7725966"/>
            <a:ext cx="434964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kern="0" spc="39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{Fas 4}</a:t>
            </a:r>
            <a:endParaRPr lang="en-US" sz="975" dirty="0"/>
          </a:p>
        </p:txBody>
      </p:sp>
      <p:sp>
        <p:nvSpPr>
          <p:cNvPr id="72" name="Shape 70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73" name="Text 71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74" name="Text 72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17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· GENOMFÖRANDE — FAS 1 AV 4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1143000" y="2990850"/>
            <a:ext cx="160020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1143000" y="1266825"/>
            <a:ext cx="2171700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3500" kern="0" spc="-540" dirty="0">
                <a:solidFill>
                  <a:srgbClr val="2B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3695701" y="1440210"/>
            <a:ext cx="31242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 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695701" y="1792635"/>
            <a:ext cx="842010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84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1 — namn}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95700" y="2447925"/>
            <a:ext cx="138527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33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{M1–M2} · {Antal veckor}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43000" y="3457575"/>
            <a:ext cx="50292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9" name="Text 7"/>
          <p:cNvSpPr/>
          <p:nvPr/>
        </p:nvSpPr>
        <p:spPr>
          <a:xfrm>
            <a:off x="1143000" y="3600450"/>
            <a:ext cx="51800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AKTIVITETER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33500" y="4200525"/>
            <a:ext cx="4989576" cy="349761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{Aktiviteter}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629400" y="3457575"/>
            <a:ext cx="50292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5" name="Text 13"/>
          <p:cNvSpPr/>
          <p:nvPr/>
        </p:nvSpPr>
        <p:spPr>
          <a:xfrm>
            <a:off x="6629400" y="3600450"/>
            <a:ext cx="51800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LEVERANSER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19900" y="4200525"/>
            <a:ext cx="4989576" cy="349761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{Leveranser}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2115800" y="3324225"/>
            <a:ext cx="5029200" cy="5334000"/>
          </a:xfrm>
          <a:prstGeom prst="rect">
            <a:avLst/>
          </a:prstGeom>
          <a:solidFill>
            <a:srgbClr val="E8DCC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0" name="Shape 18"/>
          <p:cNvSpPr/>
          <p:nvPr/>
        </p:nvSpPr>
        <p:spPr>
          <a:xfrm>
            <a:off x="12344400" y="3457575"/>
            <a:ext cx="45720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1" name="Text 19"/>
          <p:cNvSpPr/>
          <p:nvPr/>
        </p:nvSpPr>
        <p:spPr>
          <a:xfrm>
            <a:off x="12344400" y="3600450"/>
            <a:ext cx="47091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BESLUT I STYRGRUPP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534900" y="4200525"/>
            <a:ext cx="4518660" cy="45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{Beslut}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143000" y="9001125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6" name="Text 24"/>
          <p:cNvSpPr/>
          <p:nvPr/>
        </p:nvSpPr>
        <p:spPr>
          <a:xfrm>
            <a:off x="1143000" y="9277350"/>
            <a:ext cx="2171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TIDSLINJE · FAS 1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67100" y="9201150"/>
            <a:ext cx="13677900" cy="13335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8" name="Shape 26"/>
          <p:cNvSpPr/>
          <p:nvPr/>
        </p:nvSpPr>
        <p:spPr>
          <a:xfrm>
            <a:off x="3467100" y="9201150"/>
            <a:ext cx="2279600" cy="133350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9" name="Shape 27"/>
          <p:cNvSpPr/>
          <p:nvPr/>
        </p:nvSpPr>
        <p:spPr>
          <a:xfrm>
            <a:off x="3467100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0" name="Text 28"/>
          <p:cNvSpPr/>
          <p:nvPr/>
        </p:nvSpPr>
        <p:spPr>
          <a:xfrm>
            <a:off x="3505200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</a:t>
            </a:r>
            <a:endParaRPr lang="en-US" sz="825" dirty="0"/>
          </a:p>
        </p:txBody>
      </p:sp>
      <p:sp>
        <p:nvSpPr>
          <p:cNvPr id="31" name="Shape 29"/>
          <p:cNvSpPr/>
          <p:nvPr/>
        </p:nvSpPr>
        <p:spPr>
          <a:xfrm>
            <a:off x="460682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2" name="Text 30"/>
          <p:cNvSpPr/>
          <p:nvPr/>
        </p:nvSpPr>
        <p:spPr>
          <a:xfrm>
            <a:off x="464492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825" dirty="0"/>
          </a:p>
        </p:txBody>
      </p:sp>
      <p:sp>
        <p:nvSpPr>
          <p:cNvPr id="33" name="Shape 31"/>
          <p:cNvSpPr/>
          <p:nvPr/>
        </p:nvSpPr>
        <p:spPr>
          <a:xfrm>
            <a:off x="5746700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4" name="Text 32"/>
          <p:cNvSpPr/>
          <p:nvPr/>
        </p:nvSpPr>
        <p:spPr>
          <a:xfrm>
            <a:off x="5784800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M3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688642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6" name="Text 34"/>
          <p:cNvSpPr/>
          <p:nvPr/>
        </p:nvSpPr>
        <p:spPr>
          <a:xfrm>
            <a:off x="692452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M4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8026301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8" name="Text 36"/>
          <p:cNvSpPr/>
          <p:nvPr/>
        </p:nvSpPr>
        <p:spPr>
          <a:xfrm>
            <a:off x="8064401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M5</a:t>
            </a:r>
            <a:endParaRPr lang="en-US" sz="825" dirty="0"/>
          </a:p>
        </p:txBody>
      </p:sp>
      <p:sp>
        <p:nvSpPr>
          <p:cNvPr id="39" name="Shape 37"/>
          <p:cNvSpPr/>
          <p:nvPr/>
        </p:nvSpPr>
        <p:spPr>
          <a:xfrm>
            <a:off x="9166175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0" name="Text 38"/>
          <p:cNvSpPr/>
          <p:nvPr/>
        </p:nvSpPr>
        <p:spPr>
          <a:xfrm>
            <a:off x="9204275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M6</a:t>
            </a:r>
            <a:endParaRPr lang="en-US" sz="825" dirty="0"/>
          </a:p>
        </p:txBody>
      </p:sp>
      <p:sp>
        <p:nvSpPr>
          <p:cNvPr id="41" name="Shape 39"/>
          <p:cNvSpPr/>
          <p:nvPr/>
        </p:nvSpPr>
        <p:spPr>
          <a:xfrm>
            <a:off x="10305901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2" name="Text 40"/>
          <p:cNvSpPr/>
          <p:nvPr/>
        </p:nvSpPr>
        <p:spPr>
          <a:xfrm>
            <a:off x="10344001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M7</a:t>
            </a:r>
            <a:endParaRPr lang="en-US" sz="825" dirty="0"/>
          </a:p>
        </p:txBody>
      </p:sp>
      <p:sp>
        <p:nvSpPr>
          <p:cNvPr id="43" name="Shape 41"/>
          <p:cNvSpPr/>
          <p:nvPr/>
        </p:nvSpPr>
        <p:spPr>
          <a:xfrm>
            <a:off x="1144577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4" name="Text 42"/>
          <p:cNvSpPr/>
          <p:nvPr/>
        </p:nvSpPr>
        <p:spPr>
          <a:xfrm>
            <a:off x="1148387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M8</a:t>
            </a:r>
            <a:endParaRPr lang="en-US" sz="825" dirty="0"/>
          </a:p>
        </p:txBody>
      </p:sp>
      <p:sp>
        <p:nvSpPr>
          <p:cNvPr id="45" name="Shape 43"/>
          <p:cNvSpPr/>
          <p:nvPr/>
        </p:nvSpPr>
        <p:spPr>
          <a:xfrm>
            <a:off x="12585650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6" name="Text 44"/>
          <p:cNvSpPr/>
          <p:nvPr/>
        </p:nvSpPr>
        <p:spPr>
          <a:xfrm>
            <a:off x="12623750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M9</a:t>
            </a:r>
            <a:endParaRPr lang="en-US" sz="825" dirty="0"/>
          </a:p>
        </p:txBody>
      </p:sp>
      <p:sp>
        <p:nvSpPr>
          <p:cNvPr id="47" name="Shape 45"/>
          <p:cNvSpPr/>
          <p:nvPr/>
        </p:nvSpPr>
        <p:spPr>
          <a:xfrm>
            <a:off x="1372537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8" name="Text 46"/>
          <p:cNvSpPr/>
          <p:nvPr/>
        </p:nvSpPr>
        <p:spPr>
          <a:xfrm>
            <a:off x="1376347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M10</a:t>
            </a:r>
            <a:endParaRPr lang="en-US" sz="825" dirty="0"/>
          </a:p>
        </p:txBody>
      </p:sp>
      <p:sp>
        <p:nvSpPr>
          <p:cNvPr id="49" name="Shape 47"/>
          <p:cNvSpPr/>
          <p:nvPr/>
        </p:nvSpPr>
        <p:spPr>
          <a:xfrm>
            <a:off x="14865251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0" name="Text 48"/>
          <p:cNvSpPr/>
          <p:nvPr/>
        </p:nvSpPr>
        <p:spPr>
          <a:xfrm>
            <a:off x="14903351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M11</a:t>
            </a:r>
            <a:endParaRPr lang="en-US" sz="825" dirty="0"/>
          </a:p>
        </p:txBody>
      </p:sp>
      <p:sp>
        <p:nvSpPr>
          <p:cNvPr id="51" name="Shape 49"/>
          <p:cNvSpPr/>
          <p:nvPr/>
        </p:nvSpPr>
        <p:spPr>
          <a:xfrm>
            <a:off x="16005125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2" name="Text 50"/>
          <p:cNvSpPr/>
          <p:nvPr/>
        </p:nvSpPr>
        <p:spPr>
          <a:xfrm>
            <a:off x="16043225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M12</a:t>
            </a:r>
            <a:endParaRPr lang="en-US" sz="825" dirty="0"/>
          </a:p>
        </p:txBody>
      </p:sp>
      <p:sp>
        <p:nvSpPr>
          <p:cNvPr id="53" name="Shape 51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4" name="Text 52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17</a:t>
            </a:r>
            <a:endParaRPr lang="en-US" sz="1350" dirty="0"/>
          </a:p>
        </p:txBody>
      </p:sp>
      <p:sp>
        <p:nvSpPr>
          <p:cNvPr id="11" name="Shape 17">
            <a:extLst>
              <a:ext uri="{FF2B5EF4-FFF2-40B4-BE49-F238E27FC236}">
                <a16:creationId xmlns:a16="http://schemas.microsoft.com/office/drawing/2014/main" id="{0B4BFD28-7CC4-7EB4-5C0E-924A9AC7BA44}"/>
              </a:ext>
            </a:extLst>
          </p:cNvPr>
          <p:cNvSpPr/>
          <p:nvPr/>
        </p:nvSpPr>
        <p:spPr>
          <a:xfrm>
            <a:off x="12115801" y="280988"/>
            <a:ext cx="5097779" cy="8715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/>
          <a:lstStyle/>
          <a:p>
            <a:r>
              <a:rPr lang="sv-SE" dirty="0"/>
              <a:t>{Mål}</a:t>
            </a:r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5CDACDC8-417D-B9E3-4861-E7CEE7BFA914}"/>
              </a:ext>
            </a:extLst>
          </p:cNvPr>
          <p:cNvSpPr/>
          <p:nvPr/>
        </p:nvSpPr>
        <p:spPr>
          <a:xfrm>
            <a:off x="1333500" y="7839075"/>
            <a:ext cx="10475976" cy="8001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{Risker}</a:t>
            </a:r>
            <a:endParaRPr lang="en-US" sz="1650" dirty="0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BCDE78B3-D30A-46C7-CF5F-6E897FE65AB8}"/>
              </a:ext>
            </a:extLst>
          </p:cNvPr>
          <p:cNvSpPr/>
          <p:nvPr/>
        </p:nvSpPr>
        <p:spPr>
          <a:xfrm>
            <a:off x="12150090" y="1322548"/>
            <a:ext cx="50292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· GENOMFÖRANDE — FAS 2 AV 4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1143000" y="2990850"/>
            <a:ext cx="160020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1143000" y="1266825"/>
            <a:ext cx="2171700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3500" kern="0" spc="-540" dirty="0">
                <a:solidFill>
                  <a:srgbClr val="2B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3695700" y="1440210"/>
            <a:ext cx="138527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 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695700" y="1792635"/>
            <a:ext cx="13852779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84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2 — namn}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95700" y="2447925"/>
            <a:ext cx="138527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33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{M2–M5} · {Antal veckor}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43000" y="3457575"/>
            <a:ext cx="50292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9" name="Text 7"/>
          <p:cNvSpPr/>
          <p:nvPr/>
        </p:nvSpPr>
        <p:spPr>
          <a:xfrm>
            <a:off x="1143000" y="3600450"/>
            <a:ext cx="51800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AKTIVITETER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33500" y="420052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{Aktivitet 1}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333500" y="466531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{Aktivitet 2}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333500" y="513010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{Aktivitet 3}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333500" y="5594896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{Aktivitet 4}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629400" y="3457575"/>
            <a:ext cx="50292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5" name="Text 13"/>
          <p:cNvSpPr/>
          <p:nvPr/>
        </p:nvSpPr>
        <p:spPr>
          <a:xfrm>
            <a:off x="6629400" y="3600450"/>
            <a:ext cx="51800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LEVERANSER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19900" y="420052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{Leverans 1}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819900" y="466531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{Leverans 2}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819900" y="513010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{Leverans 3}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2115800" y="3324225"/>
            <a:ext cx="5029200" cy="5334000"/>
          </a:xfrm>
          <a:prstGeom prst="rect">
            <a:avLst/>
          </a:prstGeom>
          <a:solidFill>
            <a:srgbClr val="E8DCC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0" name="Shape 18"/>
          <p:cNvSpPr/>
          <p:nvPr/>
        </p:nvSpPr>
        <p:spPr>
          <a:xfrm>
            <a:off x="12344400" y="3457575"/>
            <a:ext cx="45720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1" name="Text 19"/>
          <p:cNvSpPr/>
          <p:nvPr/>
        </p:nvSpPr>
        <p:spPr>
          <a:xfrm>
            <a:off x="12344400" y="3600450"/>
            <a:ext cx="47091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BESLUT I STYRGRUPP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534900" y="4200525"/>
            <a:ext cx="451866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{Beslut 1}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2534900" y="4665315"/>
            <a:ext cx="451866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{Beslut 2}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2534900" y="5130105"/>
            <a:ext cx="451866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{Go/no-go till nästa fas}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143000" y="9001125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6" name="Text 24"/>
          <p:cNvSpPr/>
          <p:nvPr/>
        </p:nvSpPr>
        <p:spPr>
          <a:xfrm>
            <a:off x="1143000" y="9277350"/>
            <a:ext cx="2171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TIDSLINJE · FAS 2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67100" y="9201150"/>
            <a:ext cx="13677900" cy="13335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8" name="Shape 26"/>
          <p:cNvSpPr/>
          <p:nvPr/>
        </p:nvSpPr>
        <p:spPr>
          <a:xfrm>
            <a:off x="4606826" y="9201150"/>
            <a:ext cx="4559201" cy="133350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9" name="Shape 27"/>
          <p:cNvSpPr/>
          <p:nvPr/>
        </p:nvSpPr>
        <p:spPr>
          <a:xfrm>
            <a:off x="3467100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0" name="Text 28"/>
          <p:cNvSpPr/>
          <p:nvPr/>
        </p:nvSpPr>
        <p:spPr>
          <a:xfrm>
            <a:off x="3505200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</a:t>
            </a:r>
            <a:endParaRPr lang="en-US" sz="825" dirty="0"/>
          </a:p>
        </p:txBody>
      </p:sp>
      <p:sp>
        <p:nvSpPr>
          <p:cNvPr id="31" name="Shape 29"/>
          <p:cNvSpPr/>
          <p:nvPr/>
        </p:nvSpPr>
        <p:spPr>
          <a:xfrm>
            <a:off x="460682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2" name="Text 30"/>
          <p:cNvSpPr/>
          <p:nvPr/>
        </p:nvSpPr>
        <p:spPr>
          <a:xfrm>
            <a:off x="464492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825" dirty="0"/>
          </a:p>
        </p:txBody>
      </p:sp>
      <p:sp>
        <p:nvSpPr>
          <p:cNvPr id="33" name="Shape 31"/>
          <p:cNvSpPr/>
          <p:nvPr/>
        </p:nvSpPr>
        <p:spPr>
          <a:xfrm>
            <a:off x="5746700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4" name="Text 32"/>
          <p:cNvSpPr/>
          <p:nvPr/>
        </p:nvSpPr>
        <p:spPr>
          <a:xfrm>
            <a:off x="5784800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M3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688642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6" name="Text 34"/>
          <p:cNvSpPr/>
          <p:nvPr/>
        </p:nvSpPr>
        <p:spPr>
          <a:xfrm>
            <a:off x="692452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M4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8026301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8" name="Text 36"/>
          <p:cNvSpPr/>
          <p:nvPr/>
        </p:nvSpPr>
        <p:spPr>
          <a:xfrm>
            <a:off x="8064401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M5</a:t>
            </a:r>
            <a:endParaRPr lang="en-US" sz="825" dirty="0"/>
          </a:p>
        </p:txBody>
      </p:sp>
      <p:sp>
        <p:nvSpPr>
          <p:cNvPr id="39" name="Shape 37"/>
          <p:cNvSpPr/>
          <p:nvPr/>
        </p:nvSpPr>
        <p:spPr>
          <a:xfrm>
            <a:off x="9166175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0" name="Text 38"/>
          <p:cNvSpPr/>
          <p:nvPr/>
        </p:nvSpPr>
        <p:spPr>
          <a:xfrm>
            <a:off x="9204275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M6</a:t>
            </a:r>
            <a:endParaRPr lang="en-US" sz="825" dirty="0"/>
          </a:p>
        </p:txBody>
      </p:sp>
      <p:sp>
        <p:nvSpPr>
          <p:cNvPr id="41" name="Shape 39"/>
          <p:cNvSpPr/>
          <p:nvPr/>
        </p:nvSpPr>
        <p:spPr>
          <a:xfrm>
            <a:off x="10305901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2" name="Text 40"/>
          <p:cNvSpPr/>
          <p:nvPr/>
        </p:nvSpPr>
        <p:spPr>
          <a:xfrm>
            <a:off x="10344001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M7</a:t>
            </a:r>
            <a:endParaRPr lang="en-US" sz="825" dirty="0"/>
          </a:p>
        </p:txBody>
      </p:sp>
      <p:sp>
        <p:nvSpPr>
          <p:cNvPr id="43" name="Shape 41"/>
          <p:cNvSpPr/>
          <p:nvPr/>
        </p:nvSpPr>
        <p:spPr>
          <a:xfrm>
            <a:off x="1144577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4" name="Text 42"/>
          <p:cNvSpPr/>
          <p:nvPr/>
        </p:nvSpPr>
        <p:spPr>
          <a:xfrm>
            <a:off x="1148387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M8</a:t>
            </a:r>
            <a:endParaRPr lang="en-US" sz="825" dirty="0"/>
          </a:p>
        </p:txBody>
      </p:sp>
      <p:sp>
        <p:nvSpPr>
          <p:cNvPr id="45" name="Shape 43"/>
          <p:cNvSpPr/>
          <p:nvPr/>
        </p:nvSpPr>
        <p:spPr>
          <a:xfrm>
            <a:off x="12585650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6" name="Text 44"/>
          <p:cNvSpPr/>
          <p:nvPr/>
        </p:nvSpPr>
        <p:spPr>
          <a:xfrm>
            <a:off x="12623750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M9</a:t>
            </a:r>
            <a:endParaRPr lang="en-US" sz="825" dirty="0"/>
          </a:p>
        </p:txBody>
      </p:sp>
      <p:sp>
        <p:nvSpPr>
          <p:cNvPr id="47" name="Shape 45"/>
          <p:cNvSpPr/>
          <p:nvPr/>
        </p:nvSpPr>
        <p:spPr>
          <a:xfrm>
            <a:off x="1372537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8" name="Text 46"/>
          <p:cNvSpPr/>
          <p:nvPr/>
        </p:nvSpPr>
        <p:spPr>
          <a:xfrm>
            <a:off x="1376347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M10</a:t>
            </a:r>
            <a:endParaRPr lang="en-US" sz="825" dirty="0"/>
          </a:p>
        </p:txBody>
      </p:sp>
      <p:sp>
        <p:nvSpPr>
          <p:cNvPr id="49" name="Shape 47"/>
          <p:cNvSpPr/>
          <p:nvPr/>
        </p:nvSpPr>
        <p:spPr>
          <a:xfrm>
            <a:off x="14865251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0" name="Text 48"/>
          <p:cNvSpPr/>
          <p:nvPr/>
        </p:nvSpPr>
        <p:spPr>
          <a:xfrm>
            <a:off x="14903351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M11</a:t>
            </a:r>
            <a:endParaRPr lang="en-US" sz="825" dirty="0"/>
          </a:p>
        </p:txBody>
      </p:sp>
      <p:sp>
        <p:nvSpPr>
          <p:cNvPr id="51" name="Shape 49"/>
          <p:cNvSpPr/>
          <p:nvPr/>
        </p:nvSpPr>
        <p:spPr>
          <a:xfrm>
            <a:off x="16005125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2" name="Text 50"/>
          <p:cNvSpPr/>
          <p:nvPr/>
        </p:nvSpPr>
        <p:spPr>
          <a:xfrm>
            <a:off x="16043225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M12</a:t>
            </a:r>
            <a:endParaRPr lang="en-US" sz="825" dirty="0"/>
          </a:p>
        </p:txBody>
      </p:sp>
      <p:sp>
        <p:nvSpPr>
          <p:cNvPr id="53" name="Shape 51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4" name="Text 52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17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· GENOMFÖRANDE — FAS 3 AV 4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1143000" y="2990850"/>
            <a:ext cx="160020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1143000" y="1266825"/>
            <a:ext cx="2171700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3500" kern="0" spc="-540" dirty="0">
                <a:solidFill>
                  <a:srgbClr val="2B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3695700" y="1440210"/>
            <a:ext cx="138527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 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695700" y="1792635"/>
            <a:ext cx="13852779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84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3 — namn}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95700" y="2447925"/>
            <a:ext cx="138527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33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{M5–M9} · {Antal veckor}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43000" y="3457575"/>
            <a:ext cx="50292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9" name="Text 7"/>
          <p:cNvSpPr/>
          <p:nvPr/>
        </p:nvSpPr>
        <p:spPr>
          <a:xfrm>
            <a:off x="1143000" y="3600450"/>
            <a:ext cx="51800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AKTIVITETER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33500" y="420052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{Aktivitet 1}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333500" y="466531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{Aktivitet 2}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333500" y="513010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{Aktivitet 3}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333500" y="5594896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{Aktivitet 4}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629400" y="3457575"/>
            <a:ext cx="50292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5" name="Text 13"/>
          <p:cNvSpPr/>
          <p:nvPr/>
        </p:nvSpPr>
        <p:spPr>
          <a:xfrm>
            <a:off x="6629400" y="3600450"/>
            <a:ext cx="51800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LEVERANSER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19900" y="420052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{Leverans 1}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819900" y="466531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{Leverans 2}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819900" y="513010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{Leverans 3}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2115800" y="3324225"/>
            <a:ext cx="5029200" cy="5334000"/>
          </a:xfrm>
          <a:prstGeom prst="rect">
            <a:avLst/>
          </a:prstGeom>
          <a:solidFill>
            <a:srgbClr val="E8DCC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0" name="Shape 18"/>
          <p:cNvSpPr/>
          <p:nvPr/>
        </p:nvSpPr>
        <p:spPr>
          <a:xfrm>
            <a:off x="12344400" y="3457575"/>
            <a:ext cx="45720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1" name="Text 19"/>
          <p:cNvSpPr/>
          <p:nvPr/>
        </p:nvSpPr>
        <p:spPr>
          <a:xfrm>
            <a:off x="12344400" y="3600450"/>
            <a:ext cx="47091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BESLUT I STYRGRUPP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534900" y="4200525"/>
            <a:ext cx="451866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{Beslut 1}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2534900" y="4665315"/>
            <a:ext cx="451866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{Beslut 2}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2534900" y="5130105"/>
            <a:ext cx="451866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{Go/no-go till nästa fas}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143000" y="9001125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6" name="Text 24"/>
          <p:cNvSpPr/>
          <p:nvPr/>
        </p:nvSpPr>
        <p:spPr>
          <a:xfrm>
            <a:off x="1143000" y="9277350"/>
            <a:ext cx="2171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TIDSLINJE · FAS 3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67100" y="9201150"/>
            <a:ext cx="13677900" cy="13335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8" name="Shape 26"/>
          <p:cNvSpPr/>
          <p:nvPr/>
        </p:nvSpPr>
        <p:spPr>
          <a:xfrm>
            <a:off x="8026301" y="9201150"/>
            <a:ext cx="5699075" cy="133350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9" name="Shape 27"/>
          <p:cNvSpPr/>
          <p:nvPr/>
        </p:nvSpPr>
        <p:spPr>
          <a:xfrm>
            <a:off x="3467100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0" name="Text 28"/>
          <p:cNvSpPr/>
          <p:nvPr/>
        </p:nvSpPr>
        <p:spPr>
          <a:xfrm>
            <a:off x="3505200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</a:t>
            </a:r>
            <a:endParaRPr lang="en-US" sz="825" dirty="0"/>
          </a:p>
        </p:txBody>
      </p:sp>
      <p:sp>
        <p:nvSpPr>
          <p:cNvPr id="31" name="Shape 29"/>
          <p:cNvSpPr/>
          <p:nvPr/>
        </p:nvSpPr>
        <p:spPr>
          <a:xfrm>
            <a:off x="460682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2" name="Text 30"/>
          <p:cNvSpPr/>
          <p:nvPr/>
        </p:nvSpPr>
        <p:spPr>
          <a:xfrm>
            <a:off x="464492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825" dirty="0"/>
          </a:p>
        </p:txBody>
      </p:sp>
      <p:sp>
        <p:nvSpPr>
          <p:cNvPr id="33" name="Shape 31"/>
          <p:cNvSpPr/>
          <p:nvPr/>
        </p:nvSpPr>
        <p:spPr>
          <a:xfrm>
            <a:off x="5746700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4" name="Text 32"/>
          <p:cNvSpPr/>
          <p:nvPr/>
        </p:nvSpPr>
        <p:spPr>
          <a:xfrm>
            <a:off x="5784800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M3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688642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6" name="Text 34"/>
          <p:cNvSpPr/>
          <p:nvPr/>
        </p:nvSpPr>
        <p:spPr>
          <a:xfrm>
            <a:off x="692452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M4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8026301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8" name="Text 36"/>
          <p:cNvSpPr/>
          <p:nvPr/>
        </p:nvSpPr>
        <p:spPr>
          <a:xfrm>
            <a:off x="8064401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M5</a:t>
            </a:r>
            <a:endParaRPr lang="en-US" sz="825" dirty="0"/>
          </a:p>
        </p:txBody>
      </p:sp>
      <p:sp>
        <p:nvSpPr>
          <p:cNvPr id="39" name="Shape 37"/>
          <p:cNvSpPr/>
          <p:nvPr/>
        </p:nvSpPr>
        <p:spPr>
          <a:xfrm>
            <a:off x="9166175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0" name="Text 38"/>
          <p:cNvSpPr/>
          <p:nvPr/>
        </p:nvSpPr>
        <p:spPr>
          <a:xfrm>
            <a:off x="9204275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M6</a:t>
            </a:r>
            <a:endParaRPr lang="en-US" sz="825" dirty="0"/>
          </a:p>
        </p:txBody>
      </p:sp>
      <p:sp>
        <p:nvSpPr>
          <p:cNvPr id="41" name="Shape 39"/>
          <p:cNvSpPr/>
          <p:nvPr/>
        </p:nvSpPr>
        <p:spPr>
          <a:xfrm>
            <a:off x="10305901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2" name="Text 40"/>
          <p:cNvSpPr/>
          <p:nvPr/>
        </p:nvSpPr>
        <p:spPr>
          <a:xfrm>
            <a:off x="10344001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M7</a:t>
            </a:r>
            <a:endParaRPr lang="en-US" sz="825" dirty="0"/>
          </a:p>
        </p:txBody>
      </p:sp>
      <p:sp>
        <p:nvSpPr>
          <p:cNvPr id="43" name="Shape 41"/>
          <p:cNvSpPr/>
          <p:nvPr/>
        </p:nvSpPr>
        <p:spPr>
          <a:xfrm>
            <a:off x="1144577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4" name="Text 42"/>
          <p:cNvSpPr/>
          <p:nvPr/>
        </p:nvSpPr>
        <p:spPr>
          <a:xfrm>
            <a:off x="1148387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M8</a:t>
            </a:r>
            <a:endParaRPr lang="en-US" sz="825" dirty="0"/>
          </a:p>
        </p:txBody>
      </p:sp>
      <p:sp>
        <p:nvSpPr>
          <p:cNvPr id="45" name="Shape 43"/>
          <p:cNvSpPr/>
          <p:nvPr/>
        </p:nvSpPr>
        <p:spPr>
          <a:xfrm>
            <a:off x="12585650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6" name="Text 44"/>
          <p:cNvSpPr/>
          <p:nvPr/>
        </p:nvSpPr>
        <p:spPr>
          <a:xfrm>
            <a:off x="12623750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M9</a:t>
            </a:r>
            <a:endParaRPr lang="en-US" sz="825" dirty="0"/>
          </a:p>
        </p:txBody>
      </p:sp>
      <p:sp>
        <p:nvSpPr>
          <p:cNvPr id="47" name="Shape 45"/>
          <p:cNvSpPr/>
          <p:nvPr/>
        </p:nvSpPr>
        <p:spPr>
          <a:xfrm>
            <a:off x="1372537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8" name="Text 46"/>
          <p:cNvSpPr/>
          <p:nvPr/>
        </p:nvSpPr>
        <p:spPr>
          <a:xfrm>
            <a:off x="1376347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M10</a:t>
            </a:r>
            <a:endParaRPr lang="en-US" sz="825" dirty="0"/>
          </a:p>
        </p:txBody>
      </p:sp>
      <p:sp>
        <p:nvSpPr>
          <p:cNvPr id="49" name="Shape 47"/>
          <p:cNvSpPr/>
          <p:nvPr/>
        </p:nvSpPr>
        <p:spPr>
          <a:xfrm>
            <a:off x="14865251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0" name="Text 48"/>
          <p:cNvSpPr/>
          <p:nvPr/>
        </p:nvSpPr>
        <p:spPr>
          <a:xfrm>
            <a:off x="14903351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M11</a:t>
            </a:r>
            <a:endParaRPr lang="en-US" sz="825" dirty="0"/>
          </a:p>
        </p:txBody>
      </p:sp>
      <p:sp>
        <p:nvSpPr>
          <p:cNvPr id="51" name="Shape 49"/>
          <p:cNvSpPr/>
          <p:nvPr/>
        </p:nvSpPr>
        <p:spPr>
          <a:xfrm>
            <a:off x="16005125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2" name="Text 50"/>
          <p:cNvSpPr/>
          <p:nvPr/>
        </p:nvSpPr>
        <p:spPr>
          <a:xfrm>
            <a:off x="16043225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M12</a:t>
            </a:r>
            <a:endParaRPr lang="en-US" sz="825" dirty="0"/>
          </a:p>
        </p:txBody>
      </p:sp>
      <p:sp>
        <p:nvSpPr>
          <p:cNvPr id="53" name="Shape 51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4" name="Text 52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17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· GENOMFÖRANDE — FAS 4 AV 4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1143000" y="2990850"/>
            <a:ext cx="160020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1143000" y="1266825"/>
            <a:ext cx="2171700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3500" kern="0" spc="-540" dirty="0">
                <a:solidFill>
                  <a:srgbClr val="2B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3695700" y="1440210"/>
            <a:ext cx="138527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 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695700" y="1792635"/>
            <a:ext cx="13852779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84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4 — namn}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95700" y="2447925"/>
            <a:ext cx="138527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33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{M9–M12} · {Antal veckor}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43000" y="3457575"/>
            <a:ext cx="50292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9" name="Text 7"/>
          <p:cNvSpPr/>
          <p:nvPr/>
        </p:nvSpPr>
        <p:spPr>
          <a:xfrm>
            <a:off x="1143000" y="3600450"/>
            <a:ext cx="51800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AKTIVITETER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33500" y="420052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{Aktivitet 1}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333500" y="466531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{Aktivitet 2}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333500" y="513010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{Aktivitet 3}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333500" y="5594896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{Aktivitet 4}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629400" y="3457575"/>
            <a:ext cx="50292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5" name="Text 13"/>
          <p:cNvSpPr/>
          <p:nvPr/>
        </p:nvSpPr>
        <p:spPr>
          <a:xfrm>
            <a:off x="6629400" y="3600450"/>
            <a:ext cx="51800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LEVERANSER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19900" y="420052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{Leverans 1 — slutleverans}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819900" y="466531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{Leverans 2 — överlämning}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819900" y="513010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{Leverans 3 — slutrapport}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2115800" y="3324225"/>
            <a:ext cx="5029200" cy="5334000"/>
          </a:xfrm>
          <a:prstGeom prst="rect">
            <a:avLst/>
          </a:prstGeom>
          <a:solidFill>
            <a:srgbClr val="E8DCC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0" name="Shape 18"/>
          <p:cNvSpPr/>
          <p:nvPr/>
        </p:nvSpPr>
        <p:spPr>
          <a:xfrm>
            <a:off x="12344400" y="3457575"/>
            <a:ext cx="45720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1" name="Text 19"/>
          <p:cNvSpPr/>
          <p:nvPr/>
        </p:nvSpPr>
        <p:spPr>
          <a:xfrm>
            <a:off x="12344400" y="3600450"/>
            <a:ext cx="47091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BESLUT I STYRGRUPP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534900" y="4200525"/>
            <a:ext cx="451866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{Beslut 1 — godkännande av slutleverans}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2534900" y="4665315"/>
            <a:ext cx="451866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{Beslut 2 — förvaltningsöverlämning}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2534900" y="5130105"/>
            <a:ext cx="451866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{Avslut av uppdrag}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143000" y="9001125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6" name="Text 24"/>
          <p:cNvSpPr/>
          <p:nvPr/>
        </p:nvSpPr>
        <p:spPr>
          <a:xfrm>
            <a:off x="1143000" y="9277350"/>
            <a:ext cx="2171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TIDSLINJE · FAS 4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67100" y="9201150"/>
            <a:ext cx="13677900" cy="13335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8" name="Shape 26"/>
          <p:cNvSpPr/>
          <p:nvPr/>
        </p:nvSpPr>
        <p:spPr>
          <a:xfrm>
            <a:off x="12585650" y="9201150"/>
            <a:ext cx="4559201" cy="133350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9" name="Shape 27"/>
          <p:cNvSpPr/>
          <p:nvPr/>
        </p:nvSpPr>
        <p:spPr>
          <a:xfrm>
            <a:off x="3467100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0" name="Text 28"/>
          <p:cNvSpPr/>
          <p:nvPr/>
        </p:nvSpPr>
        <p:spPr>
          <a:xfrm>
            <a:off x="3505200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</a:t>
            </a:r>
            <a:endParaRPr lang="en-US" sz="825" dirty="0"/>
          </a:p>
        </p:txBody>
      </p:sp>
      <p:sp>
        <p:nvSpPr>
          <p:cNvPr id="31" name="Shape 29"/>
          <p:cNvSpPr/>
          <p:nvPr/>
        </p:nvSpPr>
        <p:spPr>
          <a:xfrm>
            <a:off x="460682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2" name="Text 30"/>
          <p:cNvSpPr/>
          <p:nvPr/>
        </p:nvSpPr>
        <p:spPr>
          <a:xfrm>
            <a:off x="464492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825" dirty="0"/>
          </a:p>
        </p:txBody>
      </p:sp>
      <p:sp>
        <p:nvSpPr>
          <p:cNvPr id="33" name="Shape 31"/>
          <p:cNvSpPr/>
          <p:nvPr/>
        </p:nvSpPr>
        <p:spPr>
          <a:xfrm>
            <a:off x="5746700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4" name="Text 32"/>
          <p:cNvSpPr/>
          <p:nvPr/>
        </p:nvSpPr>
        <p:spPr>
          <a:xfrm>
            <a:off x="5784800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M3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688642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6" name="Text 34"/>
          <p:cNvSpPr/>
          <p:nvPr/>
        </p:nvSpPr>
        <p:spPr>
          <a:xfrm>
            <a:off x="692452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M4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8026301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8" name="Text 36"/>
          <p:cNvSpPr/>
          <p:nvPr/>
        </p:nvSpPr>
        <p:spPr>
          <a:xfrm>
            <a:off x="8064401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M5</a:t>
            </a:r>
            <a:endParaRPr lang="en-US" sz="825" dirty="0"/>
          </a:p>
        </p:txBody>
      </p:sp>
      <p:sp>
        <p:nvSpPr>
          <p:cNvPr id="39" name="Shape 37"/>
          <p:cNvSpPr/>
          <p:nvPr/>
        </p:nvSpPr>
        <p:spPr>
          <a:xfrm>
            <a:off x="9166175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0" name="Text 38"/>
          <p:cNvSpPr/>
          <p:nvPr/>
        </p:nvSpPr>
        <p:spPr>
          <a:xfrm>
            <a:off x="9204275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M6</a:t>
            </a:r>
            <a:endParaRPr lang="en-US" sz="825" dirty="0"/>
          </a:p>
        </p:txBody>
      </p:sp>
      <p:sp>
        <p:nvSpPr>
          <p:cNvPr id="41" name="Shape 39"/>
          <p:cNvSpPr/>
          <p:nvPr/>
        </p:nvSpPr>
        <p:spPr>
          <a:xfrm>
            <a:off x="10305901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2" name="Text 40"/>
          <p:cNvSpPr/>
          <p:nvPr/>
        </p:nvSpPr>
        <p:spPr>
          <a:xfrm>
            <a:off x="10344001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M7</a:t>
            </a:r>
            <a:endParaRPr lang="en-US" sz="825" dirty="0"/>
          </a:p>
        </p:txBody>
      </p:sp>
      <p:sp>
        <p:nvSpPr>
          <p:cNvPr id="43" name="Shape 41"/>
          <p:cNvSpPr/>
          <p:nvPr/>
        </p:nvSpPr>
        <p:spPr>
          <a:xfrm>
            <a:off x="1144577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4" name="Text 42"/>
          <p:cNvSpPr/>
          <p:nvPr/>
        </p:nvSpPr>
        <p:spPr>
          <a:xfrm>
            <a:off x="1148387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M8</a:t>
            </a:r>
            <a:endParaRPr lang="en-US" sz="825" dirty="0"/>
          </a:p>
        </p:txBody>
      </p:sp>
      <p:sp>
        <p:nvSpPr>
          <p:cNvPr id="45" name="Shape 43"/>
          <p:cNvSpPr/>
          <p:nvPr/>
        </p:nvSpPr>
        <p:spPr>
          <a:xfrm>
            <a:off x="12585650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6" name="Text 44"/>
          <p:cNvSpPr/>
          <p:nvPr/>
        </p:nvSpPr>
        <p:spPr>
          <a:xfrm>
            <a:off x="12623750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M9</a:t>
            </a:r>
            <a:endParaRPr lang="en-US" sz="825" dirty="0"/>
          </a:p>
        </p:txBody>
      </p:sp>
      <p:sp>
        <p:nvSpPr>
          <p:cNvPr id="47" name="Shape 45"/>
          <p:cNvSpPr/>
          <p:nvPr/>
        </p:nvSpPr>
        <p:spPr>
          <a:xfrm>
            <a:off x="1372537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8" name="Text 46"/>
          <p:cNvSpPr/>
          <p:nvPr/>
        </p:nvSpPr>
        <p:spPr>
          <a:xfrm>
            <a:off x="1376347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M10</a:t>
            </a:r>
            <a:endParaRPr lang="en-US" sz="825" dirty="0"/>
          </a:p>
        </p:txBody>
      </p:sp>
      <p:sp>
        <p:nvSpPr>
          <p:cNvPr id="49" name="Shape 47"/>
          <p:cNvSpPr/>
          <p:nvPr/>
        </p:nvSpPr>
        <p:spPr>
          <a:xfrm>
            <a:off x="14865251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0" name="Text 48"/>
          <p:cNvSpPr/>
          <p:nvPr/>
        </p:nvSpPr>
        <p:spPr>
          <a:xfrm>
            <a:off x="14903351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M11</a:t>
            </a:r>
            <a:endParaRPr lang="en-US" sz="825" dirty="0"/>
          </a:p>
        </p:txBody>
      </p:sp>
      <p:sp>
        <p:nvSpPr>
          <p:cNvPr id="51" name="Shape 49"/>
          <p:cNvSpPr/>
          <p:nvPr/>
        </p:nvSpPr>
        <p:spPr>
          <a:xfrm>
            <a:off x="16005125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2" name="Text 50"/>
          <p:cNvSpPr/>
          <p:nvPr/>
        </p:nvSpPr>
        <p:spPr>
          <a:xfrm>
            <a:off x="16043225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M12</a:t>
            </a:r>
            <a:endParaRPr lang="en-US" sz="825" dirty="0"/>
          </a:p>
        </p:txBody>
      </p:sp>
      <p:sp>
        <p:nvSpPr>
          <p:cNvPr id="53" name="Shape 51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4" name="Text 52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17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· KVALITETSSÄKRING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648206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Kvalitetssäkring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438400"/>
            <a:ext cx="50292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/>
          <p:nvPr/>
        </p:nvSpPr>
        <p:spPr>
          <a:xfrm>
            <a:off x="1143000" y="2619375"/>
            <a:ext cx="51800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QA-PROCESS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43000" y="3162300"/>
            <a:ext cx="5180076" cy="46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{QA-process}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629400" y="2438400"/>
            <a:ext cx="50292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9" name="Text 7"/>
          <p:cNvSpPr/>
          <p:nvPr/>
        </p:nvSpPr>
        <p:spPr>
          <a:xfrm>
            <a:off x="6629400" y="2619375"/>
            <a:ext cx="51800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ANSVARIG KVALITETSLEDARE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29400" y="3162300"/>
            <a:ext cx="5180076" cy="46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{Kvalitetsledare}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115800" y="2438400"/>
            <a:ext cx="50292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4" name="Text 12"/>
          <p:cNvSpPr/>
          <p:nvPr/>
        </p:nvSpPr>
        <p:spPr>
          <a:xfrm>
            <a:off x="12115800" y="2619375"/>
            <a:ext cx="51800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ESKALERING OCH RAPPORTERING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115800" y="3162300"/>
            <a:ext cx="5180076" cy="46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{Eskalering}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43000" y="7890570"/>
            <a:ext cx="16002000" cy="9525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8" name="Text 16"/>
          <p:cNvSpPr/>
          <p:nvPr/>
        </p:nvSpPr>
        <p:spPr>
          <a:xfrm>
            <a:off x="1143000" y="8204895"/>
            <a:ext cx="164820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AVSTÄMNINGSPUNKTER MOT BESTÄLLARE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143000" y="8614470"/>
            <a:ext cx="3829050" cy="910530"/>
          </a:xfrm>
          <a:prstGeom prst="rect">
            <a:avLst/>
          </a:prstGeom>
          <a:ln w="9525">
            <a:solidFill>
              <a:srgbClr val="CFC7B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0" name="Text 18"/>
          <p:cNvSpPr/>
          <p:nvPr/>
        </p:nvSpPr>
        <p:spPr>
          <a:xfrm>
            <a:off x="1323975" y="8814495"/>
            <a:ext cx="3571113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kern="0" spc="10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 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323975" y="9086850"/>
            <a:ext cx="342349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{Avstämning 1 — tidpunkt och innehåll}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200650" y="8614470"/>
            <a:ext cx="3829050" cy="910530"/>
          </a:xfrm>
          <a:prstGeom prst="rect">
            <a:avLst/>
          </a:prstGeom>
          <a:ln w="9525">
            <a:solidFill>
              <a:srgbClr val="CFC7B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3" name="Text 21"/>
          <p:cNvSpPr/>
          <p:nvPr/>
        </p:nvSpPr>
        <p:spPr>
          <a:xfrm>
            <a:off x="5381625" y="8814495"/>
            <a:ext cx="3571113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kern="0" spc="10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 2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81625" y="9086850"/>
            <a:ext cx="135418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{Avstämning 2}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258300" y="8614470"/>
            <a:ext cx="3829050" cy="910530"/>
          </a:xfrm>
          <a:prstGeom prst="rect">
            <a:avLst/>
          </a:prstGeom>
          <a:ln w="9525">
            <a:solidFill>
              <a:srgbClr val="CFC7B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6" name="Text 24"/>
          <p:cNvSpPr/>
          <p:nvPr/>
        </p:nvSpPr>
        <p:spPr>
          <a:xfrm>
            <a:off x="9439275" y="8814495"/>
            <a:ext cx="3571113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kern="0" spc="10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 3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439275" y="9086850"/>
            <a:ext cx="135418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{Avstämning 3}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3315950" y="8614470"/>
            <a:ext cx="3829050" cy="910530"/>
          </a:xfrm>
          <a:prstGeom prst="rect">
            <a:avLst/>
          </a:prstGeom>
          <a:ln w="9525">
            <a:solidFill>
              <a:srgbClr val="CFC7B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9" name="Text 27"/>
          <p:cNvSpPr/>
          <p:nvPr/>
        </p:nvSpPr>
        <p:spPr>
          <a:xfrm>
            <a:off x="13496925" y="8814495"/>
            <a:ext cx="3571113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kern="0" spc="10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 4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3496925" y="9086850"/>
            <a:ext cx="135418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{Avstämning 4}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2" name="Text 30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17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· TEAM, OMFATTNING OCH PRIS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648206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Team, omfattning och pris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405063"/>
            <a:ext cx="3238946" cy="59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Shape 3"/>
          <p:cNvSpPr/>
          <p:nvPr/>
        </p:nvSpPr>
        <p:spPr>
          <a:xfrm>
            <a:off x="1143000" y="2987873"/>
            <a:ext cx="3238946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" name="Shape 4"/>
          <p:cNvSpPr/>
          <p:nvPr/>
        </p:nvSpPr>
        <p:spPr>
          <a:xfrm>
            <a:off x="1143000" y="2405063"/>
            <a:ext cx="3238946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333500" y="2586038"/>
            <a:ext cx="2955115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KONSULT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81946" y="2405063"/>
            <a:ext cx="3191024" cy="59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9" name="Shape 7"/>
          <p:cNvSpPr/>
          <p:nvPr/>
        </p:nvSpPr>
        <p:spPr>
          <a:xfrm>
            <a:off x="4381946" y="2987873"/>
            <a:ext cx="3191024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0" name="Shape 8"/>
          <p:cNvSpPr/>
          <p:nvPr/>
        </p:nvSpPr>
        <p:spPr>
          <a:xfrm>
            <a:off x="4381946" y="2405063"/>
            <a:ext cx="3191024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1" name="Text 9"/>
          <p:cNvSpPr/>
          <p:nvPr/>
        </p:nvSpPr>
        <p:spPr>
          <a:xfrm>
            <a:off x="4572446" y="2586038"/>
            <a:ext cx="2905755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ROLL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572970" y="2405063"/>
            <a:ext cx="2392710" cy="59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3" name="Shape 11"/>
          <p:cNvSpPr/>
          <p:nvPr/>
        </p:nvSpPr>
        <p:spPr>
          <a:xfrm>
            <a:off x="7572970" y="2987873"/>
            <a:ext cx="239271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4" name="Shape 12"/>
          <p:cNvSpPr/>
          <p:nvPr/>
        </p:nvSpPr>
        <p:spPr>
          <a:xfrm>
            <a:off x="7572970" y="2405063"/>
            <a:ext cx="239271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5" name="Text 13"/>
          <p:cNvSpPr/>
          <p:nvPr/>
        </p:nvSpPr>
        <p:spPr>
          <a:xfrm>
            <a:off x="7763470" y="2586038"/>
            <a:ext cx="2087910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OMFATTNING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965680" y="2405063"/>
            <a:ext cx="2181076" cy="59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7" name="Shape 15"/>
          <p:cNvSpPr/>
          <p:nvPr/>
        </p:nvSpPr>
        <p:spPr>
          <a:xfrm>
            <a:off x="9965680" y="2987873"/>
            <a:ext cx="2181076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8" name="Shape 16"/>
          <p:cNvSpPr/>
          <p:nvPr/>
        </p:nvSpPr>
        <p:spPr>
          <a:xfrm>
            <a:off x="9965680" y="2405063"/>
            <a:ext cx="2181076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9" name="Text 17"/>
          <p:cNvSpPr/>
          <p:nvPr/>
        </p:nvSpPr>
        <p:spPr>
          <a:xfrm>
            <a:off x="10156180" y="2586038"/>
            <a:ext cx="1876276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TIMPRIS (SEK)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2146756" y="2405063"/>
            <a:ext cx="2227808" cy="59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1" name="Shape 19"/>
          <p:cNvSpPr/>
          <p:nvPr/>
        </p:nvSpPr>
        <p:spPr>
          <a:xfrm>
            <a:off x="12146756" y="2987873"/>
            <a:ext cx="2227808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2" name="Shape 20"/>
          <p:cNvSpPr/>
          <p:nvPr/>
        </p:nvSpPr>
        <p:spPr>
          <a:xfrm>
            <a:off x="12146756" y="2405063"/>
            <a:ext cx="2227808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3" name="Text 21"/>
          <p:cNvSpPr/>
          <p:nvPr/>
        </p:nvSpPr>
        <p:spPr>
          <a:xfrm>
            <a:off x="12337256" y="2586038"/>
            <a:ext cx="1923008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TIMMAR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4374564" y="2405063"/>
            <a:ext cx="2770436" cy="59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5" name="Shape 23"/>
          <p:cNvSpPr/>
          <p:nvPr/>
        </p:nvSpPr>
        <p:spPr>
          <a:xfrm>
            <a:off x="14374564" y="2987873"/>
            <a:ext cx="2770436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6" name="Shape 24"/>
          <p:cNvSpPr/>
          <p:nvPr/>
        </p:nvSpPr>
        <p:spPr>
          <a:xfrm>
            <a:off x="14374564" y="2405063"/>
            <a:ext cx="2770436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7" name="Text 25"/>
          <p:cNvSpPr/>
          <p:nvPr/>
        </p:nvSpPr>
        <p:spPr>
          <a:xfrm>
            <a:off x="14565064" y="2586038"/>
            <a:ext cx="2472549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TOTAL VOLYM (SEK)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143000" y="3633639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9" name="Text 27"/>
          <p:cNvSpPr/>
          <p:nvPr/>
        </p:nvSpPr>
        <p:spPr>
          <a:xfrm>
            <a:off x="1333500" y="3168848"/>
            <a:ext cx="2955115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{Konsult 1 — namn}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4572446" y="3168848"/>
            <a:ext cx="2905755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{Roll 1}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7763470" y="3168848"/>
            <a:ext cx="2087910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{Omfattning 1 %}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0156180" y="3168848"/>
            <a:ext cx="1876276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{Timpris 1}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2337256" y="3168848"/>
            <a:ext cx="1923008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{Timmar 1}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4565064" y="3168848"/>
            <a:ext cx="2472549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{Total 1}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143000" y="4279404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6" name="Text 34"/>
          <p:cNvSpPr/>
          <p:nvPr/>
        </p:nvSpPr>
        <p:spPr>
          <a:xfrm>
            <a:off x="1333500" y="3814614"/>
            <a:ext cx="2955115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{Konsult 2 — namn}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4572446" y="3814614"/>
            <a:ext cx="2905755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{Roll 2}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7763470" y="3814614"/>
            <a:ext cx="2087910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{Omfattning 2 %}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0156180" y="3814614"/>
            <a:ext cx="1876276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{Timpris 2}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2337256" y="3814614"/>
            <a:ext cx="1923008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{Timmar 2}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4565064" y="3814614"/>
            <a:ext cx="2472549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{Total 2}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1143000" y="4925169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3" name="Text 41"/>
          <p:cNvSpPr/>
          <p:nvPr/>
        </p:nvSpPr>
        <p:spPr>
          <a:xfrm>
            <a:off x="1333500" y="4460379"/>
            <a:ext cx="2955115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{Konsult 3 — namn}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4572446" y="4460379"/>
            <a:ext cx="2905755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{Roll 3}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7763470" y="4460379"/>
            <a:ext cx="2087910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{Omfattning 3 %}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10156180" y="4460379"/>
            <a:ext cx="1876276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{Timpris 3}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12337256" y="4460379"/>
            <a:ext cx="1923008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{Timmar 3}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14565064" y="4460379"/>
            <a:ext cx="2472549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{Total 3}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1143000" y="5570934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0" name="Text 48"/>
          <p:cNvSpPr/>
          <p:nvPr/>
        </p:nvSpPr>
        <p:spPr>
          <a:xfrm>
            <a:off x="1333500" y="5106144"/>
            <a:ext cx="2955115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{Konsult 4 — namn}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4572446" y="5106144"/>
            <a:ext cx="2905755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{Roll 4}</a:t>
            </a:r>
            <a:endParaRPr lang="en-US" sz="1650" dirty="0"/>
          </a:p>
        </p:txBody>
      </p:sp>
      <p:sp>
        <p:nvSpPr>
          <p:cNvPr id="52" name="Text 50"/>
          <p:cNvSpPr/>
          <p:nvPr/>
        </p:nvSpPr>
        <p:spPr>
          <a:xfrm>
            <a:off x="7763470" y="5106144"/>
            <a:ext cx="2087910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{Omfattning 4 %}</a:t>
            </a:r>
            <a:endParaRPr lang="en-US" sz="1650" dirty="0"/>
          </a:p>
        </p:txBody>
      </p:sp>
      <p:sp>
        <p:nvSpPr>
          <p:cNvPr id="53" name="Text 51"/>
          <p:cNvSpPr/>
          <p:nvPr/>
        </p:nvSpPr>
        <p:spPr>
          <a:xfrm>
            <a:off x="10156180" y="5106144"/>
            <a:ext cx="1876276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{Timpris 4}</a:t>
            </a:r>
            <a:endParaRPr lang="en-US" sz="1650" dirty="0"/>
          </a:p>
        </p:txBody>
      </p:sp>
      <p:sp>
        <p:nvSpPr>
          <p:cNvPr id="54" name="Text 52"/>
          <p:cNvSpPr/>
          <p:nvPr/>
        </p:nvSpPr>
        <p:spPr>
          <a:xfrm>
            <a:off x="12337256" y="5106144"/>
            <a:ext cx="1923008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{Timmar 4}</a:t>
            </a:r>
            <a:endParaRPr lang="en-US" sz="1650" dirty="0"/>
          </a:p>
        </p:txBody>
      </p:sp>
      <p:sp>
        <p:nvSpPr>
          <p:cNvPr id="55" name="Text 53"/>
          <p:cNvSpPr/>
          <p:nvPr/>
        </p:nvSpPr>
        <p:spPr>
          <a:xfrm>
            <a:off x="14565064" y="5106144"/>
            <a:ext cx="2472549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{Total 4}</a:t>
            </a:r>
            <a:endParaRPr lang="en-US" sz="1650" dirty="0"/>
          </a:p>
        </p:txBody>
      </p:sp>
      <p:sp>
        <p:nvSpPr>
          <p:cNvPr id="56" name="Shape 54"/>
          <p:cNvSpPr/>
          <p:nvPr/>
        </p:nvSpPr>
        <p:spPr>
          <a:xfrm>
            <a:off x="1143000" y="62167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7" name="Text 55"/>
          <p:cNvSpPr/>
          <p:nvPr/>
        </p:nvSpPr>
        <p:spPr>
          <a:xfrm>
            <a:off x="1333500" y="5751909"/>
            <a:ext cx="2955115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{Konsult 5 — namn}</a:t>
            </a:r>
            <a:endParaRPr lang="en-US" sz="1650" dirty="0"/>
          </a:p>
        </p:txBody>
      </p:sp>
      <p:sp>
        <p:nvSpPr>
          <p:cNvPr id="58" name="Text 56"/>
          <p:cNvSpPr/>
          <p:nvPr/>
        </p:nvSpPr>
        <p:spPr>
          <a:xfrm>
            <a:off x="4572446" y="5751909"/>
            <a:ext cx="2905755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{Roll 5}</a:t>
            </a:r>
            <a:endParaRPr lang="en-US" sz="1650" dirty="0"/>
          </a:p>
        </p:txBody>
      </p:sp>
      <p:sp>
        <p:nvSpPr>
          <p:cNvPr id="59" name="Text 57"/>
          <p:cNvSpPr/>
          <p:nvPr/>
        </p:nvSpPr>
        <p:spPr>
          <a:xfrm>
            <a:off x="7763470" y="5751909"/>
            <a:ext cx="2087910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{Omfattning 5 %}</a:t>
            </a:r>
            <a:endParaRPr lang="en-US" sz="1650" dirty="0"/>
          </a:p>
        </p:txBody>
      </p:sp>
      <p:sp>
        <p:nvSpPr>
          <p:cNvPr id="60" name="Text 58"/>
          <p:cNvSpPr/>
          <p:nvPr/>
        </p:nvSpPr>
        <p:spPr>
          <a:xfrm>
            <a:off x="10156180" y="5751909"/>
            <a:ext cx="1876276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{Timpris 5}</a:t>
            </a:r>
            <a:endParaRPr lang="en-US" sz="1650" dirty="0"/>
          </a:p>
        </p:txBody>
      </p:sp>
      <p:sp>
        <p:nvSpPr>
          <p:cNvPr id="61" name="Text 59"/>
          <p:cNvSpPr/>
          <p:nvPr/>
        </p:nvSpPr>
        <p:spPr>
          <a:xfrm>
            <a:off x="12337256" y="5751909"/>
            <a:ext cx="1923008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{Timmar 5}</a:t>
            </a:r>
            <a:endParaRPr lang="en-US" sz="1650" dirty="0"/>
          </a:p>
        </p:txBody>
      </p:sp>
      <p:sp>
        <p:nvSpPr>
          <p:cNvPr id="62" name="Text 60"/>
          <p:cNvSpPr/>
          <p:nvPr/>
        </p:nvSpPr>
        <p:spPr>
          <a:xfrm>
            <a:off x="14565064" y="5751909"/>
            <a:ext cx="2472549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{Total 5}</a:t>
            </a:r>
            <a:endParaRPr lang="en-US" sz="1650" dirty="0"/>
          </a:p>
        </p:txBody>
      </p:sp>
      <p:sp>
        <p:nvSpPr>
          <p:cNvPr id="63" name="Shape 61"/>
          <p:cNvSpPr/>
          <p:nvPr/>
        </p:nvSpPr>
        <p:spPr>
          <a:xfrm>
            <a:off x="1143000" y="6881515"/>
            <a:ext cx="16002000" cy="9525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4" name="Shape 62"/>
          <p:cNvSpPr/>
          <p:nvPr/>
        </p:nvSpPr>
        <p:spPr>
          <a:xfrm>
            <a:off x="1143000" y="6226225"/>
            <a:ext cx="11003756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5" name="Text 63"/>
          <p:cNvSpPr/>
          <p:nvPr/>
        </p:nvSpPr>
        <p:spPr>
          <a:xfrm>
            <a:off x="1333500" y="6426250"/>
            <a:ext cx="10952869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 — anbudspris exkl. moms</a:t>
            </a:r>
            <a:endParaRPr lang="en-US" sz="1650" dirty="0"/>
          </a:p>
        </p:txBody>
      </p:sp>
      <p:sp>
        <p:nvSpPr>
          <p:cNvPr id="66" name="Shape 64"/>
          <p:cNvSpPr/>
          <p:nvPr/>
        </p:nvSpPr>
        <p:spPr>
          <a:xfrm>
            <a:off x="12146756" y="6226225"/>
            <a:ext cx="2227808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7" name="Text 65"/>
          <p:cNvSpPr/>
          <p:nvPr/>
        </p:nvSpPr>
        <p:spPr>
          <a:xfrm>
            <a:off x="12337256" y="6426250"/>
            <a:ext cx="1923008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{Summa timmar}</a:t>
            </a:r>
            <a:endParaRPr lang="en-US" sz="1650" dirty="0"/>
          </a:p>
        </p:txBody>
      </p:sp>
      <p:sp>
        <p:nvSpPr>
          <p:cNvPr id="68" name="Shape 66"/>
          <p:cNvSpPr/>
          <p:nvPr/>
        </p:nvSpPr>
        <p:spPr>
          <a:xfrm>
            <a:off x="14374564" y="6226225"/>
            <a:ext cx="2770436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9" name="Text 67"/>
          <p:cNvSpPr/>
          <p:nvPr/>
        </p:nvSpPr>
        <p:spPr>
          <a:xfrm>
            <a:off x="14565064" y="6426250"/>
            <a:ext cx="2472549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{Anbudspris totalt}</a:t>
            </a:r>
            <a:endParaRPr lang="en-US" sz="1650" dirty="0"/>
          </a:p>
        </p:txBody>
      </p:sp>
      <p:sp>
        <p:nvSpPr>
          <p:cNvPr id="70" name="Text 68"/>
          <p:cNvSpPr/>
          <p:nvPr/>
        </p:nvSpPr>
        <p:spPr>
          <a:xfrm>
            <a:off x="1143000" y="7162502"/>
            <a:ext cx="164820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Samtliga priser anges i SEK exklusive moms. Omfattning anger del av heltid under uppdragstiden.</a:t>
            </a:r>
            <a:endParaRPr lang="en-US" sz="1350" dirty="0"/>
          </a:p>
        </p:txBody>
      </p:sp>
      <p:sp>
        <p:nvSpPr>
          <p:cNvPr id="71" name="Shape 69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72" name="Text 70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73" name="Text 71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17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· UPPFYLLELSE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648206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Uppfyllelse av ska-krav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405063"/>
            <a:ext cx="1280071" cy="83224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Shape 3"/>
          <p:cNvSpPr/>
          <p:nvPr/>
        </p:nvSpPr>
        <p:spPr>
          <a:xfrm>
            <a:off x="1143000" y="3227784"/>
            <a:ext cx="1280071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" name="Shape 4"/>
          <p:cNvSpPr/>
          <p:nvPr/>
        </p:nvSpPr>
        <p:spPr>
          <a:xfrm>
            <a:off x="1143000" y="2405063"/>
            <a:ext cx="1280071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333500" y="2586038"/>
            <a:ext cx="975271" cy="508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423071" y="2405063"/>
            <a:ext cx="5120580" cy="83224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9" name="Shape 7"/>
          <p:cNvSpPr/>
          <p:nvPr/>
        </p:nvSpPr>
        <p:spPr>
          <a:xfrm>
            <a:off x="2423071" y="3227784"/>
            <a:ext cx="512058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0" name="Shape 8"/>
          <p:cNvSpPr/>
          <p:nvPr/>
        </p:nvSpPr>
        <p:spPr>
          <a:xfrm>
            <a:off x="2423071" y="2405063"/>
            <a:ext cx="512058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1" name="Text 9"/>
          <p:cNvSpPr/>
          <p:nvPr/>
        </p:nvSpPr>
        <p:spPr>
          <a:xfrm>
            <a:off x="2613571" y="2586038"/>
            <a:ext cx="4893198" cy="508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SKA-KRAV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543651" y="2405063"/>
            <a:ext cx="1600200" cy="83224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3" name="Shape 11"/>
          <p:cNvSpPr/>
          <p:nvPr/>
        </p:nvSpPr>
        <p:spPr>
          <a:xfrm>
            <a:off x="7543651" y="3227784"/>
            <a:ext cx="16002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4" name="Shape 12"/>
          <p:cNvSpPr/>
          <p:nvPr/>
        </p:nvSpPr>
        <p:spPr>
          <a:xfrm>
            <a:off x="7543651" y="2405063"/>
            <a:ext cx="16002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5" name="Text 13"/>
          <p:cNvSpPr/>
          <p:nvPr/>
        </p:nvSpPr>
        <p:spPr>
          <a:xfrm>
            <a:off x="7734151" y="2586038"/>
            <a:ext cx="1295400" cy="508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UPPFYLLT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143851" y="2405063"/>
            <a:ext cx="4800600" cy="83224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7" name="Shape 15"/>
          <p:cNvSpPr/>
          <p:nvPr/>
        </p:nvSpPr>
        <p:spPr>
          <a:xfrm>
            <a:off x="9143851" y="3227784"/>
            <a:ext cx="48006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8" name="Shape 16"/>
          <p:cNvSpPr/>
          <p:nvPr/>
        </p:nvSpPr>
        <p:spPr>
          <a:xfrm>
            <a:off x="9143851" y="2405063"/>
            <a:ext cx="48006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9" name="Text 17"/>
          <p:cNvSpPr/>
          <p:nvPr/>
        </p:nvSpPr>
        <p:spPr>
          <a:xfrm>
            <a:off x="9334351" y="2586038"/>
            <a:ext cx="4563618" cy="508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HUR KRAVET UPPFYLLS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3944451" y="2405063"/>
            <a:ext cx="3200549" cy="83224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1" name="Shape 19"/>
          <p:cNvSpPr/>
          <p:nvPr/>
        </p:nvSpPr>
        <p:spPr>
          <a:xfrm>
            <a:off x="13944451" y="3227784"/>
            <a:ext cx="3200549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2" name="Shape 20"/>
          <p:cNvSpPr/>
          <p:nvPr/>
        </p:nvSpPr>
        <p:spPr>
          <a:xfrm>
            <a:off x="13944451" y="2405063"/>
            <a:ext cx="3200549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3" name="Text 21"/>
          <p:cNvSpPr/>
          <p:nvPr/>
        </p:nvSpPr>
        <p:spPr>
          <a:xfrm>
            <a:off x="14134951" y="2586038"/>
            <a:ext cx="2915565" cy="508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REFERENS (CV / ERFARENHET)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143000" y="416689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5" name="Text 23"/>
          <p:cNvSpPr/>
          <p:nvPr/>
        </p:nvSpPr>
        <p:spPr>
          <a:xfrm>
            <a:off x="1333500" y="3408759"/>
            <a:ext cx="975271" cy="634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2613571" y="3408759"/>
            <a:ext cx="4893198" cy="634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{Ska-krav 1 — formulering enligt upphandlingsunderlag}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7734151" y="3423047"/>
            <a:ext cx="435918" cy="289471"/>
          </a:xfrm>
          <a:prstGeom prst="roundRect">
            <a:avLst>
              <a:gd name="adj" fmla="val 6581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8" name="Text 26"/>
          <p:cNvSpPr/>
          <p:nvPr/>
        </p:nvSpPr>
        <p:spPr>
          <a:xfrm>
            <a:off x="7848451" y="3461147"/>
            <a:ext cx="28351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kern="0" spc="9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334351" y="3408759"/>
            <a:ext cx="4563618" cy="634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{Hur krav 1 uppfylls — konkret beskrivning}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4134951" y="3408759"/>
            <a:ext cx="2915565" cy="634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{CV/ref 1}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143000" y="4818311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2" name="Text 30"/>
          <p:cNvSpPr/>
          <p:nvPr/>
        </p:nvSpPr>
        <p:spPr>
          <a:xfrm>
            <a:off x="1333500" y="4347865"/>
            <a:ext cx="975271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2613571" y="4347865"/>
            <a:ext cx="4893198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{Ska-krav 2}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7734151" y="4362152"/>
            <a:ext cx="435918" cy="289471"/>
          </a:xfrm>
          <a:prstGeom prst="roundRect">
            <a:avLst>
              <a:gd name="adj" fmla="val 6581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5" name="Text 33"/>
          <p:cNvSpPr/>
          <p:nvPr/>
        </p:nvSpPr>
        <p:spPr>
          <a:xfrm>
            <a:off x="7848451" y="4400252"/>
            <a:ext cx="28351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kern="0" spc="9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334351" y="4347865"/>
            <a:ext cx="4563618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{Hur krav 2 uppfylls}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4134951" y="4347865"/>
            <a:ext cx="291556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{CV/ref 2}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143000" y="5469731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9" name="Text 37"/>
          <p:cNvSpPr/>
          <p:nvPr/>
        </p:nvSpPr>
        <p:spPr>
          <a:xfrm>
            <a:off x="1333500" y="4999286"/>
            <a:ext cx="975271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2613571" y="4999286"/>
            <a:ext cx="4893198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{Ska-krav 3}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7734151" y="5013573"/>
            <a:ext cx="435918" cy="289471"/>
          </a:xfrm>
          <a:prstGeom prst="roundRect">
            <a:avLst>
              <a:gd name="adj" fmla="val 6581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2" name="Text 40"/>
          <p:cNvSpPr/>
          <p:nvPr/>
        </p:nvSpPr>
        <p:spPr>
          <a:xfrm>
            <a:off x="7848451" y="5051673"/>
            <a:ext cx="28351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kern="0" spc="9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334351" y="4999286"/>
            <a:ext cx="4563618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{Hur krav 3 uppfylls}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4134951" y="4999286"/>
            <a:ext cx="291556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{CV/ref 3}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1143000" y="6121152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6" name="Text 44"/>
          <p:cNvSpPr/>
          <p:nvPr/>
        </p:nvSpPr>
        <p:spPr>
          <a:xfrm>
            <a:off x="1333500" y="5650706"/>
            <a:ext cx="975271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2613571" y="5650706"/>
            <a:ext cx="4893198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{Ska-krav 4}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7734151" y="5664994"/>
            <a:ext cx="435918" cy="289471"/>
          </a:xfrm>
          <a:prstGeom prst="roundRect">
            <a:avLst>
              <a:gd name="adj" fmla="val 6581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9" name="Text 47"/>
          <p:cNvSpPr/>
          <p:nvPr/>
        </p:nvSpPr>
        <p:spPr>
          <a:xfrm>
            <a:off x="7848451" y="5703094"/>
            <a:ext cx="28351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kern="0" spc="9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334351" y="5650706"/>
            <a:ext cx="4563618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{Hur krav 4 uppfylls}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14134951" y="5650706"/>
            <a:ext cx="291556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{CV/ref 4}</a:t>
            </a:r>
            <a:endParaRPr lang="en-US" sz="1650" dirty="0"/>
          </a:p>
        </p:txBody>
      </p:sp>
      <p:sp>
        <p:nvSpPr>
          <p:cNvPr id="52" name="Shape 50"/>
          <p:cNvSpPr/>
          <p:nvPr/>
        </p:nvSpPr>
        <p:spPr>
          <a:xfrm>
            <a:off x="1143000" y="6772573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3" name="Text 51"/>
          <p:cNvSpPr/>
          <p:nvPr/>
        </p:nvSpPr>
        <p:spPr>
          <a:xfrm>
            <a:off x="1333500" y="6302127"/>
            <a:ext cx="975271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650" dirty="0"/>
          </a:p>
        </p:txBody>
      </p:sp>
      <p:sp>
        <p:nvSpPr>
          <p:cNvPr id="54" name="Text 52"/>
          <p:cNvSpPr/>
          <p:nvPr/>
        </p:nvSpPr>
        <p:spPr>
          <a:xfrm>
            <a:off x="2613571" y="6302127"/>
            <a:ext cx="4893198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{Ska-krav 5}</a:t>
            </a:r>
            <a:endParaRPr lang="en-US" sz="1650" dirty="0"/>
          </a:p>
        </p:txBody>
      </p:sp>
      <p:sp>
        <p:nvSpPr>
          <p:cNvPr id="55" name="Shape 53"/>
          <p:cNvSpPr/>
          <p:nvPr/>
        </p:nvSpPr>
        <p:spPr>
          <a:xfrm>
            <a:off x="7734151" y="6316414"/>
            <a:ext cx="435918" cy="289471"/>
          </a:xfrm>
          <a:prstGeom prst="roundRect">
            <a:avLst>
              <a:gd name="adj" fmla="val 6581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6" name="Text 54"/>
          <p:cNvSpPr/>
          <p:nvPr/>
        </p:nvSpPr>
        <p:spPr>
          <a:xfrm>
            <a:off x="7848451" y="6354514"/>
            <a:ext cx="28351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kern="0" spc="9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9334351" y="6302127"/>
            <a:ext cx="4563618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{Hur krav 5 uppfylls}</a:t>
            </a:r>
            <a:endParaRPr lang="en-US" sz="1650" dirty="0"/>
          </a:p>
        </p:txBody>
      </p:sp>
      <p:sp>
        <p:nvSpPr>
          <p:cNvPr id="58" name="Text 56"/>
          <p:cNvSpPr/>
          <p:nvPr/>
        </p:nvSpPr>
        <p:spPr>
          <a:xfrm>
            <a:off x="14134951" y="6302127"/>
            <a:ext cx="291556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{CV/ref 5}</a:t>
            </a:r>
            <a:endParaRPr lang="en-US" sz="1650" dirty="0"/>
          </a:p>
        </p:txBody>
      </p:sp>
      <p:sp>
        <p:nvSpPr>
          <p:cNvPr id="59" name="Shape 57"/>
          <p:cNvSpPr/>
          <p:nvPr/>
        </p:nvSpPr>
        <p:spPr>
          <a:xfrm>
            <a:off x="1143000" y="7423993"/>
            <a:ext cx="16002000" cy="9525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0" name="Text 58"/>
          <p:cNvSpPr/>
          <p:nvPr/>
        </p:nvSpPr>
        <p:spPr>
          <a:xfrm>
            <a:off x="1333500" y="6953548"/>
            <a:ext cx="975271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650" dirty="0"/>
          </a:p>
        </p:txBody>
      </p:sp>
      <p:sp>
        <p:nvSpPr>
          <p:cNvPr id="61" name="Text 59"/>
          <p:cNvSpPr/>
          <p:nvPr/>
        </p:nvSpPr>
        <p:spPr>
          <a:xfrm>
            <a:off x="2613571" y="6953548"/>
            <a:ext cx="4893198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{Ska-krav 6}</a:t>
            </a:r>
            <a:endParaRPr lang="en-US" sz="1650" dirty="0"/>
          </a:p>
        </p:txBody>
      </p:sp>
      <p:sp>
        <p:nvSpPr>
          <p:cNvPr id="62" name="Shape 60"/>
          <p:cNvSpPr/>
          <p:nvPr/>
        </p:nvSpPr>
        <p:spPr>
          <a:xfrm>
            <a:off x="7734151" y="6967835"/>
            <a:ext cx="435918" cy="289471"/>
          </a:xfrm>
          <a:prstGeom prst="roundRect">
            <a:avLst>
              <a:gd name="adj" fmla="val 6581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3" name="Text 61"/>
          <p:cNvSpPr/>
          <p:nvPr/>
        </p:nvSpPr>
        <p:spPr>
          <a:xfrm>
            <a:off x="7848451" y="7005935"/>
            <a:ext cx="28351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kern="0" spc="9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9334351" y="6953548"/>
            <a:ext cx="4563618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{Hur krav 6 uppfylls}</a:t>
            </a:r>
            <a:endParaRPr lang="en-US" sz="1650" dirty="0"/>
          </a:p>
        </p:txBody>
      </p:sp>
      <p:sp>
        <p:nvSpPr>
          <p:cNvPr id="65" name="Text 63"/>
          <p:cNvSpPr/>
          <p:nvPr/>
        </p:nvSpPr>
        <p:spPr>
          <a:xfrm>
            <a:off x="14134951" y="6953548"/>
            <a:ext cx="291556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{CV/ref 6}</a:t>
            </a:r>
            <a:endParaRPr lang="en-US" sz="1650" dirty="0"/>
          </a:p>
        </p:txBody>
      </p:sp>
      <p:sp>
        <p:nvSpPr>
          <p:cNvPr id="66" name="Shape 64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7" name="Text 65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68" name="Text 66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17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· REFERENS 01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648206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{Referens 1 — kundnamn}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143000" y="2095500"/>
            <a:ext cx="1648206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000" kern="0" spc="-3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{Referens 1 — kort kontextrad, t.ex. ”Digitalisering av ärendehantering”}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43000" y="2990850"/>
            <a:ext cx="160020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" name="Text Vänster"/>
          <p:cNvSpPr/>
          <p:nvPr/>
        </p:nvSpPr>
        <p:spPr>
          <a:xfrm>
            <a:off x="1143000" y="3305175"/>
            <a:ext cx="3531870" cy="60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{Vänster}</a:t>
            </a:r>
            <a:endParaRPr lang="en-US" sz="1500" dirty="0"/>
          </a:p>
        </p:txBody>
      </p:sp>
      <p:sp>
        <p:nvSpPr>
          <p:cNvPr id="14" name="Text Höger"/>
          <p:cNvSpPr/>
          <p:nvPr/>
        </p:nvSpPr>
        <p:spPr>
          <a:xfrm>
            <a:off x="5143500" y="3305175"/>
            <a:ext cx="12361545" cy="60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{Höger}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9" name="Text 17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/ 17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· REFERENS 02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648206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{Referens 2 — kundnamn}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143000" y="2095500"/>
            <a:ext cx="1648206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000" kern="0" spc="-3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{Referens 2 — kort kontextrad}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43000" y="2990850"/>
            <a:ext cx="160020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" name="Text 4"/>
          <p:cNvSpPr/>
          <p:nvPr/>
        </p:nvSpPr>
        <p:spPr>
          <a:xfrm>
            <a:off x="1143000" y="3305175"/>
            <a:ext cx="353187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KUND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3552825"/>
            <a:ext cx="353187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{Kund — organisation}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4089946"/>
            <a:ext cx="353187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PERIOD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4337596"/>
            <a:ext cx="3531870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{Start MM/ÅÅÅÅ} — {Slut MM/ÅÅÅÅ}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5183237"/>
            <a:ext cx="353187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OMFATTNING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5430887"/>
            <a:ext cx="3531870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{Omfattning — antal timmar, konsulter och total volym}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6276529"/>
            <a:ext cx="353187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KONTAKTPERSON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6524179"/>
            <a:ext cx="3531870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{Namn} </a:t>
            </a:r>
            <a:r>
              <a:rPr lang="en-US" sz="13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{Titel} · {Telefon} · {E-post}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43500" y="3305175"/>
            <a:ext cx="1236154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ROLL OCH LEVERANS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43500" y="3590925"/>
            <a:ext cx="12361545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{Roll/leverans}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5143500" y="4254698"/>
            <a:ext cx="1236154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RESULTAT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43500" y="4540448"/>
            <a:ext cx="12361545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{Resultat}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9" name="Text 17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/ 17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· ANBUDSSEKRETESS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648206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Anbudssekretess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143000" y="2095500"/>
            <a:ext cx="1648206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000" kern="0" spc="-3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Begäran om sekretess enligt offentlighets- och sekretesslagen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2914650"/>
            <a:ext cx="156972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{Bolagsnamn} </a:t>
            </a: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begär härmed att följande uppgifter i anbudet omfattas av sekretess enligt </a:t>
            </a:r>
            <a:r>
              <a:rPr lang="en-US" sz="18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{OSL kap X §Y} </a:t>
            </a: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Ett offentliggörande av nedanstående uppgifter bedöms medföra sådan skada att uppgifterna inte bör lämnas ut.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43000" y="4535686"/>
            <a:ext cx="160020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7" name="Shape 5"/>
          <p:cNvSpPr/>
          <p:nvPr/>
        </p:nvSpPr>
        <p:spPr>
          <a:xfrm>
            <a:off x="1143000" y="3981450"/>
            <a:ext cx="160020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8" name="Text 6"/>
          <p:cNvSpPr/>
          <p:nvPr/>
        </p:nvSpPr>
        <p:spPr>
          <a:xfrm>
            <a:off x="1143000" y="4143375"/>
            <a:ext cx="121920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REFERENS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667000" y="4143375"/>
            <a:ext cx="7259955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OMFATTAR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096500" y="4143375"/>
            <a:ext cx="7259955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MOTIVERING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43000" y="5535811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2" name="Text 10"/>
          <p:cNvSpPr/>
          <p:nvPr/>
        </p:nvSpPr>
        <p:spPr>
          <a:xfrm>
            <a:off x="1143000" y="4773811"/>
            <a:ext cx="12192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{Slide/Bilaga 1}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67000" y="4773811"/>
            <a:ext cx="72599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{Uppgift som omfattas av sekretess}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096500" y="4773811"/>
            <a:ext cx="72599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{Varför — skadan som uppstår vid utlämnande}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143000" y="6535936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6" name="Text 14"/>
          <p:cNvSpPr/>
          <p:nvPr/>
        </p:nvSpPr>
        <p:spPr>
          <a:xfrm>
            <a:off x="1143000" y="5773936"/>
            <a:ext cx="12192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{Slide/Bilaga 2}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667000" y="5773936"/>
            <a:ext cx="72599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{Uppgift som omfattas}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0096500" y="5773936"/>
            <a:ext cx="72599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{Motivering}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143000" y="7536061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0" name="Text 18"/>
          <p:cNvSpPr/>
          <p:nvPr/>
        </p:nvSpPr>
        <p:spPr>
          <a:xfrm>
            <a:off x="1143000" y="6774061"/>
            <a:ext cx="12192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{Slide/Bilaga 3}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667000" y="6774061"/>
            <a:ext cx="72599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{Uppgift som omfattas}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096500" y="6774061"/>
            <a:ext cx="72599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{Motivering}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143000" y="8536186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4" name="Text 22"/>
          <p:cNvSpPr/>
          <p:nvPr/>
        </p:nvSpPr>
        <p:spPr>
          <a:xfrm>
            <a:off x="1143000" y="7774186"/>
            <a:ext cx="12192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{Slide/Bilaga 4}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667000" y="7774186"/>
            <a:ext cx="72599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{Uppgift som omfattas}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0096500" y="7774186"/>
            <a:ext cx="72599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{Motivering}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8" name="Text 26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/ 17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· CERTIFIERINGAR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648206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Certifieringar och kvalitetsmärkningar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3790950"/>
            <a:ext cx="77724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/>
          <p:nvPr/>
        </p:nvSpPr>
        <p:spPr>
          <a:xfrm>
            <a:off x="1143000" y="2552700"/>
            <a:ext cx="800557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9001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" y="2933700"/>
            <a:ext cx="80055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Kvalitetsledningssystem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3333750"/>
            <a:ext cx="13564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CERTIFIKATNR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18470" y="3333750"/>
            <a:ext cx="17222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{Certifikatnummer}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45509" y="3333750"/>
            <a:ext cx="14631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GILTIG T.O.M.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27688" y="3333750"/>
            <a:ext cx="14478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{Giltighetstid}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372600" y="3790950"/>
            <a:ext cx="77724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2" name="Text 10"/>
          <p:cNvSpPr/>
          <p:nvPr/>
        </p:nvSpPr>
        <p:spPr>
          <a:xfrm>
            <a:off x="9372600" y="2552700"/>
            <a:ext cx="800557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27001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372600" y="2933700"/>
            <a:ext cx="80055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Ledningssystem för informationssäkerhet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372600" y="3333750"/>
            <a:ext cx="13564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CERTIFIKATNR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748070" y="3333750"/>
            <a:ext cx="17222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{Certifikatnummer}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775109" y="3333750"/>
            <a:ext cx="14631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GILTIG T.O.M.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257288" y="3333750"/>
            <a:ext cx="14478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{Giltighetstid}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143000" y="5305425"/>
            <a:ext cx="77724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9" name="Text 17"/>
          <p:cNvSpPr/>
          <p:nvPr/>
        </p:nvSpPr>
        <p:spPr>
          <a:xfrm>
            <a:off x="1143000" y="4067175"/>
            <a:ext cx="800557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14001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143000" y="4448175"/>
            <a:ext cx="80055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Miljöledningssystem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" y="4848225"/>
            <a:ext cx="13564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CERTIFIKATNR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18470" y="4848225"/>
            <a:ext cx="17222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{Certifikatnummer}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45509" y="4848225"/>
            <a:ext cx="14631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GILTIG T.O.M.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27688" y="4848225"/>
            <a:ext cx="14478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{Giltighetstid}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372600" y="5305425"/>
            <a:ext cx="77724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6" name="Text 24"/>
          <p:cNvSpPr/>
          <p:nvPr/>
        </p:nvSpPr>
        <p:spPr>
          <a:xfrm>
            <a:off x="9372600" y="4067175"/>
            <a:ext cx="800557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{Övrig relevant certifiering}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372600" y="4448175"/>
            <a:ext cx="80055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{Beskrivning}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372600" y="4848225"/>
            <a:ext cx="13564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CERTIFIKATNR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748070" y="4848225"/>
            <a:ext cx="17222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{Certifikatnummer}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775109" y="4848225"/>
            <a:ext cx="14631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GILTIG T.O.M.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257288" y="4848225"/>
            <a:ext cx="14478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{Giltighetstid}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43000" y="5695950"/>
            <a:ext cx="164820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Kopior av samtliga certifikat bifogas anbudet som separata bilagor.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4" name="Text 32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 / 17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1524</Words>
  <Application>Microsoft Office PowerPoint</Application>
  <PresentationFormat>Anpassad</PresentationFormat>
  <Paragraphs>433</Paragraphs>
  <Slides>17</Slides>
  <Notes>17</Notes>
  <HiddenSlides>0</HiddenSlides>
  <MMClips>0</MMClips>
  <ScaleCrop>false</ScaleCrop>
  <HeadingPairs>
    <vt:vector size="6" baseType="variant">
      <vt:variant>
        <vt:lpstr>Använt teckensnitt</vt:lpstr>
      </vt:variant>
      <vt:variant>
        <vt:i4>4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17</vt:i4>
      </vt:variant>
    </vt:vector>
  </HeadingPairs>
  <TitlesOfParts>
    <vt:vector size="22" baseType="lpstr">
      <vt:lpstr>-apple-system</vt:lpstr>
      <vt:lpstr>Arial</vt:lpstr>
      <vt:lpstr>IBM Plex Mono</vt:lpstr>
      <vt:lpstr>IBM Plex Sans</vt:lpstr>
      <vt:lpstr>Office Theme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Stefan Edgren</cp:lastModifiedBy>
  <cp:revision>6</cp:revision>
  <dcterms:created xsi:type="dcterms:W3CDTF">2026-04-19T07:25:46Z</dcterms:created>
  <dcterms:modified xsi:type="dcterms:W3CDTF">2026-04-25T20:06:19Z</dcterms:modified>
</cp:coreProperties>
</file>